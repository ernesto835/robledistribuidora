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 APERTURA:</a:t>
            </a:r>
          </a:p>
          <a:p>
            <a:r>
              <a:t>Buenos días ingeniera Jessica Moncayo y compañeros. Hoy presentamos nuestro examen final de Fundamentos de Contabilidad: el desarrollo, despliegue y análisis de un Sistema Contable Web Integral diseñado para cubrir el 100% de las necesidades de registro, procesamiento, control y evaluación financiera de una empresa comercial.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SLIDE 2:</a:t>
            </a:r>
          </a:p>
          <a:p>
            <a:r>
              <a:t>Explicar que como estudiantes de software, no nos limitamos a analizar un PDF estático, sino que construimos una solución web real en la nube. Destacar que cumple con la normativa del SRI y las NIIF para PYMES.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SLIDE 3:</a:t>
            </a:r>
          </a:p>
          <a:p>
            <a:r>
              <a:t>Mencionar que el sistema sigue rigurosamente el orden científico de la contabilidad: los 13 pasos estructurados desde la captación del dato hasta el cierre definitivo y los indicadores de gestión.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SLIDE 4:</a:t>
            </a:r>
          </a:p>
          <a:p>
            <a:r>
              <a:t>Destacar que se auditó el PDF 'Plan de cuentas actualizado' subido por la docente y se programaron las 83 cuentas con buscador predictivo para que ningún asiento carezca de su código reglamentario.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SLIDE 5:</a:t>
            </a:r>
          </a:p>
          <a:p>
            <a:r>
              <a:t>Enfatizar que la integridad del dato está asegurada: no hay forma humana de guardar un asiento descuadrado en este sistema porque el algoritmo valida la ecuación en tiempo real.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SLIDE 6:</a:t>
            </a:r>
          </a:p>
          <a:p>
            <a:r>
              <a:t>Explicar que la mayorización manual en hojas de papel toma horas y suele tener errores de pase. Aquí se procesa en 0.001 segundos con perfecta precisión de saldos deudores y acreedores.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SLIDE 7:</a:t>
            </a:r>
          </a:p>
          <a:p>
            <a:r>
              <a:t>Mostrar la Hoja de Trabajo de 10 columnas, que es la prueba reina del examen contable universitario. Resaltar cómo la utilidad calculada en Resultados coincide exactamente con la que cuadra el balance general.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SLIDE 8 (VARIACIÓN ABSOLUTA Y PORCENTUAL):</a:t>
            </a:r>
          </a:p>
          <a:p>
            <a:r>
              <a:t>Enfatizar que antes de calcular los 8 ratios, es indispensable realizar el Análisis Horizontal. Muestre a la profesora que mientras las Ventas crecieron +20%, el Costo de Ventas se disparó +31.25%, lo cual causó que la Utilidad Bruta quedara en cero de crecimiento ($0.00 / 0.00%) y la Utilidad Neta se desplomara un -36.36%.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SLIDE 8:</a:t>
            </a:r>
          </a:p>
          <a:p>
            <a:r>
              <a:t>Esta es la diapositiva clave para el examen: explicar cómo se respondieron las 8 fórmulas, destacar que la prueba ácida bajó a 0.95 por exceso de stock y que el margen neto cayó de 13.2% a 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SLIDE 9:</a:t>
            </a:r>
          </a:p>
          <a:p>
            <a:r>
              <a:t>Presentar el Modo Limpio como una funcionalidad innovadora para la docencia universitaria: un laboratorio contable en vivo donde la docente puede dictar cualquier problema y el software lo resuelve.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SLIDE 10:</a:t>
            </a:r>
          </a:p>
          <a:p>
            <a:r>
              <a:t>Pedir permiso a la docente para pasar a la pantalla en vivo en robledistribuidora.vercel.app, cambiar a Modo Limpio y digitar este asiento en 30 segundos demostrando la mayorización y balance instantáneos.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SLIDE 11:</a:t>
            </a:r>
          </a:p>
          <a:p>
            <a:r>
              <a:t>Cerrar con solidez: argumentar cómo la ingeniería de software resuelve los cuellos de botella de la contabilidad tradicional, brindando información oportuna para la toma de decisiones.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10728655" cy="411480"/>
          </a:xfrm>
          <a:prstGeom prst="rect">
            <a:avLst/>
          </a:prstGeom>
          <a:solidFill>
            <a:srgbClr val="1F5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UNIVERSIDAD TÉCNICA ESTATAL DE QUEVEDO  ·  FACULTAD DE CIENCIAS DE LA COMPUTACIÓN</a:t>
            </a:r>
          </a:p>
        </p:txBody>
      </p:sp>
      <p:sp>
        <p:nvSpPr>
          <p:cNvPr id="4" name="TextBox 3"/>
          <p:cNvSpPr txBox="1"/>
          <p:nvPr/>
        </p:nvSpPr>
        <p:spPr>
          <a:xfrm>
            <a:off x="731520" y="1463040"/>
            <a:ext cx="10728655" cy="2011680"/>
          </a:xfrm>
          <a:prstGeom prst="rect">
            <a:avLst/>
          </a:prstGeom>
          <a:noFill/>
        </p:spPr>
        <p:txBody>
          <a:bodyPr wrap="square">
            <a:spAutoFit/>
          </a:bodyPr>
          <a:lstStyle/>
          <a:p>
            <a:pPr>
              <a:defRPr sz="4000" b="1">
                <a:solidFill>
                  <a:srgbClr val="FFFFFF"/>
                </a:solidFill>
                <a:latin typeface="Georgia"/>
              </a:defRPr>
            </a:pPr>
            <a:r>
              <a:t>SISTEMA CONTABLE WEB INTEGRAL</a:t>
            </a:r>
          </a:p>
          <a:p>
            <a:pPr>
              <a:defRPr sz="2200">
                <a:solidFill>
                  <a:srgbClr val="9C7A2C"/>
                </a:solidFill>
                <a:latin typeface="Segoe UI"/>
              </a:defRPr>
            </a:pPr>
            <a:r>
              <a:t>Automatización del Ciclo Contable Completo y Análisis Financiero Gerencial</a:t>
            </a:r>
          </a:p>
        </p:txBody>
      </p:sp>
      <p:sp>
        <p:nvSpPr>
          <p:cNvPr id="5" name="Rounded Rectangle 4"/>
          <p:cNvSpPr/>
          <p:nvPr/>
        </p:nvSpPr>
        <p:spPr>
          <a:xfrm>
            <a:off x="731520" y="3749039"/>
            <a:ext cx="10728655" cy="2377440"/>
          </a:xfrm>
          <a:prstGeom prst="roundRect">
            <a:avLst/>
          </a:prstGeom>
          <a:solidFill>
            <a:srgbClr val="20302A"/>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400">
                <a:solidFill>
                  <a:srgbClr val="9C7A2C"/>
                </a:solidFill>
                <a:latin typeface="Segoe UI"/>
              </a:rPr>
              <a:t>Asignatura: </a:t>
            </a:r>
            <a:r>
              <a:rPr sz="1400">
                <a:solidFill>
                  <a:srgbClr val="FFFFFF"/>
                </a:solidFill>
                <a:latin typeface="Segoe UI"/>
              </a:rPr>
              <a:t>Fundamentos de Contabilidad y Finanzas (4to Software 'B')</a:t>
            </a:r>
          </a:p>
          <a:p>
            <a:r>
              <a:rPr b="1" sz="1400">
                <a:solidFill>
                  <a:srgbClr val="9C7A2C"/>
                </a:solidFill>
                <a:latin typeface="Segoe UI"/>
              </a:rPr>
              <a:t>Docente: </a:t>
            </a:r>
            <a:r>
              <a:rPr sz="1400">
                <a:solidFill>
                  <a:srgbClr val="FFFFFF"/>
                </a:solidFill>
                <a:latin typeface="Segoe UI"/>
              </a:rPr>
              <a:t>Ing. Jessica Moncayo Lomas</a:t>
            </a:r>
          </a:p>
          <a:p>
            <a:r>
              <a:rPr b="1" sz="1400">
                <a:solidFill>
                  <a:srgbClr val="9C7A2C"/>
                </a:solidFill>
                <a:latin typeface="Segoe UI"/>
              </a:rPr>
              <a:t>Estudiante Expositor: </a:t>
            </a:r>
            <a:r>
              <a:rPr sz="1400">
                <a:solidFill>
                  <a:srgbClr val="FFFFFF"/>
                </a:solidFill>
                <a:latin typeface="Segoe UI"/>
              </a:rPr>
              <a:t>Ernesto Gregory Luna Mora (y equipo de trabajo)</a:t>
            </a:r>
          </a:p>
          <a:p>
            <a:r>
              <a:rPr b="1" sz="1400">
                <a:solidFill>
                  <a:srgbClr val="9C7A2C"/>
                </a:solidFill>
                <a:latin typeface="Segoe UI"/>
              </a:rPr>
              <a:t>Aplicación en Vivo (Vercel): </a:t>
            </a:r>
            <a:r>
              <a:rPr sz="1400">
                <a:solidFill>
                  <a:srgbClr val="FFFFFF"/>
                </a:solidFill>
                <a:latin typeface="Segoe UI"/>
              </a:rPr>
              <a:t>https://robledistribuidora.vercel.app</a:t>
            </a:r>
          </a:p>
          <a:p>
            <a:r>
              <a:rPr b="1" sz="1400">
                <a:solidFill>
                  <a:srgbClr val="9C7A2C"/>
                </a:solidFill>
                <a:latin typeface="Segoe UI"/>
              </a:rPr>
              <a:t>Repositorio Oficial (GitHub): </a:t>
            </a:r>
            <a:r>
              <a:rPr sz="1400">
                <a:solidFill>
                  <a:srgbClr val="FFFFFF"/>
                </a:solidFill>
                <a:latin typeface="Segoe UI"/>
              </a:rPr>
              <a:t>https://github.com/Ernesto835/robledistribuidora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9C7A2C"/>
                </a:solidFill>
                <a:latin typeface="Segoe UI"/>
              </a:defRPr>
            </a:pPr>
            <a:r>
              <a:t>SECCIÓN 1 · MARCO GENERAL</a:t>
            </a:r>
          </a:p>
        </p:txBody>
      </p:sp>
      <p:sp>
        <p:nvSpPr>
          <p:cNvPr id="4" name="TextBox 3"/>
          <p:cNvSpPr txBox="1"/>
          <p:nvPr/>
        </p:nvSpPr>
        <p:spPr>
          <a:xfrm>
            <a:off x="731520" y="685800"/>
            <a:ext cx="10698480" cy="640080"/>
          </a:xfrm>
          <a:prstGeom prst="rect">
            <a:avLst/>
          </a:prstGeom>
          <a:noFill/>
        </p:spPr>
        <p:txBody>
          <a:bodyPr wrap="square">
            <a:spAutoFit/>
          </a:bodyPr>
          <a:lstStyle/>
          <a:p>
            <a:pPr>
              <a:defRPr sz="2600" b="1">
                <a:solidFill>
                  <a:srgbClr val="1F5C46"/>
                </a:solidFill>
                <a:latin typeface="Georgia"/>
              </a:defRPr>
            </a:pPr>
            <a:r>
              <a:t>Descripción General del Sistema Contable 'El Roble'</a:t>
            </a:r>
          </a:p>
        </p:txBody>
      </p:sp>
      <p:sp>
        <p:nvSpPr>
          <p:cNvPr id="5" name="TextBox 4"/>
          <p:cNvSpPr txBox="1"/>
          <p:nvPr/>
        </p:nvSpPr>
        <p:spPr>
          <a:xfrm>
            <a:off x="731520" y="1463040"/>
            <a:ext cx="5303520" cy="4754880"/>
          </a:xfrm>
          <a:prstGeom prst="rect">
            <a:avLst/>
          </a:prstGeom>
          <a:noFill/>
        </p:spPr>
        <p:txBody>
          <a:bodyPr wrap="square">
            <a:spAutoFit/>
          </a:bodyPr>
          <a:lstStyle/>
          <a:p>
            <a:pPr>
              <a:spcAft>
                <a:spcPts val="1200"/>
              </a:spcAft>
              <a:defRPr b="1" sz="1500">
                <a:solidFill>
                  <a:srgbClr val="1F5C46"/>
                </a:solidFill>
                <a:latin typeface="Segoe UI"/>
              </a:defRPr>
            </a:pPr>
            <a:r>
              <a:t>• ¿Qué es?: </a:t>
            </a:r>
            <a:r>
              <a:rPr b="0" sz="1400">
                <a:solidFill>
                  <a:srgbClr val="182420"/>
                </a:solidFill>
              </a:rPr>
              <a:t>Una aplicación web de arquitectura Single-Page (SPA) desarrollada para digitalizar integralmente el flujo contable comercial bajo normativa ecuatoriana (SRI y NIIF para PYMES).</a:t>
            </a:r>
          </a:p>
          <a:p>
            <a:pPr>
              <a:spcAft>
                <a:spcPts val="1200"/>
              </a:spcAft>
              <a:defRPr b="1" sz="1500">
                <a:solidFill>
                  <a:srgbClr val="1F5C46"/>
                </a:solidFill>
                <a:latin typeface="Segoe UI"/>
              </a:defRPr>
            </a:pPr>
            <a:r>
              <a:t>• Objetivo Principal: </a:t>
            </a:r>
            <a:r>
              <a:rPr b="0" sz="1400">
                <a:solidFill>
                  <a:srgbClr val="182420"/>
                </a:solidFill>
              </a:rPr>
              <a:t>Eliminar errores humanos en la partida doble, automatizar la mayorización en tiempo real y transformar registros contables en reportes financieros y ratios gerenciales.</a:t>
            </a:r>
          </a:p>
          <a:p>
            <a:pPr>
              <a:spcAft>
                <a:spcPts val="1200"/>
              </a:spcAft>
              <a:defRPr b="1" sz="1500">
                <a:solidFill>
                  <a:srgbClr val="1F5C46"/>
                </a:solidFill>
                <a:latin typeface="Segoe UI"/>
              </a:defRPr>
            </a:pPr>
            <a:r>
              <a:t>• Despliegue y Acceso: </a:t>
            </a:r>
            <a:r>
              <a:rPr b="0" sz="1400">
                <a:solidFill>
                  <a:srgbClr val="182420"/>
                </a:solidFill>
              </a:rPr>
              <a:t>Alojado en la nube pública mediante Vercel con certificado SSL de alta seguridad y control de versiones en GitHub, accesible desde cualquier dispositivo sin instalar software.</a:t>
            </a:r>
          </a:p>
          <a:p>
            <a:pPr>
              <a:spcAft>
                <a:spcPts val="1200"/>
              </a:spcAft>
              <a:defRPr b="1" sz="1500">
                <a:solidFill>
                  <a:srgbClr val="1F5C46"/>
                </a:solidFill>
                <a:latin typeface="Segoe UI"/>
              </a:defRPr>
            </a:pPr>
            <a:r>
              <a:t>• Casos Implementados: </a:t>
            </a:r>
            <a:r>
              <a:rPr b="0" sz="1400">
                <a:solidFill>
                  <a:srgbClr val="182420"/>
                </a:solidFill>
              </a:rPr>
              <a:t>1) Caso Distribuidora El Roble (ejercicio comercial completo resuelto con 24 asientos).
2) Caso Distribuidora Industrial Andina (análisis comparativo de examen 2024 vs 2025).</a:t>
            </a:r>
          </a:p>
        </p:txBody>
      </p:sp>
      <p:pic>
        <p:nvPicPr>
          <p:cNvPr id="6" name="Picture 5" descr="01_presentacion_general.png"/>
          <p:cNvPicPr>
            <a:picLocks noChangeAspect="1"/>
          </p:cNvPicPr>
          <p:nvPr/>
        </p:nvPicPr>
        <p:blipFill>
          <a:blip r:embed="rId2"/>
          <a:stretch>
            <a:fillRect/>
          </a:stretch>
        </p:blipFill>
        <p:spPr>
          <a:xfrm>
            <a:off x="6309360" y="1463040"/>
            <a:ext cx="5120640" cy="275198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9C7A2C"/>
                </a:solidFill>
                <a:latin typeface="Segoe UI"/>
              </a:defRPr>
            </a:pPr>
            <a:r>
              <a:t>SECCIÓN 2 · ARQUITECTURA DEL SISTEMA</a:t>
            </a:r>
          </a:p>
        </p:txBody>
      </p:sp>
      <p:sp>
        <p:nvSpPr>
          <p:cNvPr id="4" name="TextBox 3"/>
          <p:cNvSpPr txBox="1"/>
          <p:nvPr/>
        </p:nvSpPr>
        <p:spPr>
          <a:xfrm>
            <a:off x="731520" y="685800"/>
            <a:ext cx="10698480" cy="640080"/>
          </a:xfrm>
          <a:prstGeom prst="rect">
            <a:avLst/>
          </a:prstGeom>
          <a:noFill/>
        </p:spPr>
        <p:txBody>
          <a:bodyPr wrap="square">
            <a:spAutoFit/>
          </a:bodyPr>
          <a:lstStyle/>
          <a:p>
            <a:pPr>
              <a:defRPr sz="2600" b="1">
                <a:solidFill>
                  <a:srgbClr val="1F5C46"/>
                </a:solidFill>
                <a:latin typeface="Georgia"/>
              </a:defRPr>
            </a:pPr>
            <a:r>
              <a:t>Composición y Estructura en 13 Pasos Automatizados</a:t>
            </a:r>
          </a:p>
        </p:txBody>
      </p:sp>
      <p:sp>
        <p:nvSpPr>
          <p:cNvPr id="5" name="Rounded Rectangle 4"/>
          <p:cNvSpPr/>
          <p:nvPr/>
        </p:nvSpPr>
        <p:spPr>
          <a:xfrm>
            <a:off x="731520" y="1463040"/>
            <a:ext cx="3383280" cy="960120"/>
          </a:xfrm>
          <a:prstGeom prst="roundRect">
            <a:avLst/>
          </a:prstGeom>
          <a:solidFill>
            <a:srgbClr val="FFFFFF"/>
          </a:solidFill>
          <a:ln>
            <a:solidFill>
              <a:srgbClr val="C8D2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01. Presentación</a:t>
            </a:r>
          </a:p>
          <a:p>
            <a:pPr>
              <a:defRPr sz="1150">
                <a:solidFill>
                  <a:srgbClr val="5F6C64"/>
                </a:solidFill>
              </a:defRPr>
            </a:pPr>
            <a:r>
              <a:t>Ficha técnica y caso de estudio</a:t>
            </a:r>
          </a:p>
        </p:txBody>
      </p:sp>
      <p:sp>
        <p:nvSpPr>
          <p:cNvPr id="6" name="Rounded Rectangle 5"/>
          <p:cNvSpPr/>
          <p:nvPr/>
        </p:nvSpPr>
        <p:spPr>
          <a:xfrm>
            <a:off x="4389120" y="1463040"/>
            <a:ext cx="3383280" cy="96012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02. Mis Datos</a:t>
            </a:r>
          </a:p>
          <a:p>
            <a:pPr>
              <a:defRPr sz="1150">
                <a:solidFill>
                  <a:srgbClr val="5F6C64"/>
                </a:solidFill>
              </a:defRPr>
            </a:pPr>
            <a:r>
              <a:t>Catálogo oficial 83 cuentas y nuevo asiento</a:t>
            </a:r>
          </a:p>
        </p:txBody>
      </p:sp>
      <p:sp>
        <p:nvSpPr>
          <p:cNvPr id="7" name="Rounded Rectangle 6"/>
          <p:cNvSpPr/>
          <p:nvPr/>
        </p:nvSpPr>
        <p:spPr>
          <a:xfrm>
            <a:off x="8046720" y="1463040"/>
            <a:ext cx="3383280" cy="960120"/>
          </a:xfrm>
          <a:prstGeom prst="roundRect">
            <a:avLst/>
          </a:prstGeom>
          <a:solidFill>
            <a:srgbClr val="FFFFFF"/>
          </a:solidFill>
          <a:ln>
            <a:solidFill>
              <a:srgbClr val="C8D2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03. Situación Inicial</a:t>
            </a:r>
          </a:p>
          <a:p>
            <a:pPr>
              <a:defRPr sz="1150">
                <a:solidFill>
                  <a:srgbClr val="5F6C64"/>
                </a:solidFill>
              </a:defRPr>
            </a:pPr>
            <a:r>
              <a:t>Balance de apertura verificado</a:t>
            </a:r>
          </a:p>
        </p:txBody>
      </p:sp>
      <p:sp>
        <p:nvSpPr>
          <p:cNvPr id="8" name="Rounded Rectangle 7"/>
          <p:cNvSpPr/>
          <p:nvPr/>
        </p:nvSpPr>
        <p:spPr>
          <a:xfrm>
            <a:off x="731520" y="2514600"/>
            <a:ext cx="3383280" cy="96012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04. Libro Diario</a:t>
            </a:r>
          </a:p>
          <a:p>
            <a:pPr>
              <a:defRPr sz="1150">
                <a:solidFill>
                  <a:srgbClr val="5F6C64"/>
                </a:solidFill>
              </a:defRPr>
            </a:pPr>
            <a:r>
              <a:t>Cronológico con edición y eliminación</a:t>
            </a:r>
          </a:p>
        </p:txBody>
      </p:sp>
      <p:sp>
        <p:nvSpPr>
          <p:cNvPr id="9" name="Rounded Rectangle 8"/>
          <p:cNvSpPr/>
          <p:nvPr/>
        </p:nvSpPr>
        <p:spPr>
          <a:xfrm>
            <a:off x="4389120" y="2514600"/>
            <a:ext cx="3383280" cy="960120"/>
          </a:xfrm>
          <a:prstGeom prst="roundRect">
            <a:avLst/>
          </a:prstGeom>
          <a:solidFill>
            <a:srgbClr val="FFFFFF"/>
          </a:solidFill>
          <a:ln>
            <a:solidFill>
              <a:srgbClr val="C8D2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05. Balance Comprobación</a:t>
            </a:r>
          </a:p>
          <a:p>
            <a:pPr>
              <a:defRPr sz="1150">
                <a:solidFill>
                  <a:srgbClr val="5F6C64"/>
                </a:solidFill>
              </a:defRPr>
            </a:pPr>
            <a:r>
              <a:t>Sumas y saldos sin ajustar</a:t>
            </a:r>
          </a:p>
        </p:txBody>
      </p:sp>
      <p:sp>
        <p:nvSpPr>
          <p:cNvPr id="10" name="Rounded Rectangle 9"/>
          <p:cNvSpPr/>
          <p:nvPr/>
        </p:nvSpPr>
        <p:spPr>
          <a:xfrm>
            <a:off x="8046720" y="2514600"/>
            <a:ext cx="3383280" cy="960120"/>
          </a:xfrm>
          <a:prstGeom prst="roundRect">
            <a:avLst/>
          </a:prstGeom>
          <a:solidFill>
            <a:srgbClr val="FFFFFF"/>
          </a:solidFill>
          <a:ln>
            <a:solidFill>
              <a:srgbClr val="C8D2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06. Ajustes de Mes</a:t>
            </a:r>
          </a:p>
          <a:p>
            <a:pPr>
              <a:defRPr sz="1150">
                <a:solidFill>
                  <a:srgbClr val="5F6C64"/>
                </a:solidFill>
              </a:defRPr>
            </a:pPr>
            <a:r>
              <a:t>Devengado, depreciación y consumos</a:t>
            </a:r>
          </a:p>
        </p:txBody>
      </p:sp>
      <p:sp>
        <p:nvSpPr>
          <p:cNvPr id="11" name="Rounded Rectangle 10"/>
          <p:cNvSpPr/>
          <p:nvPr/>
        </p:nvSpPr>
        <p:spPr>
          <a:xfrm>
            <a:off x="731520" y="3566160"/>
            <a:ext cx="3383280" cy="96012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07. Libro Mayor (T)</a:t>
            </a:r>
          </a:p>
          <a:p>
            <a:pPr>
              <a:defRPr sz="1150">
                <a:solidFill>
                  <a:srgbClr val="5F6C64"/>
                </a:solidFill>
              </a:defRPr>
            </a:pPr>
            <a:r>
              <a:t>Saldos deudores y acreedores al instante</a:t>
            </a:r>
          </a:p>
        </p:txBody>
      </p:sp>
      <p:sp>
        <p:nvSpPr>
          <p:cNvPr id="12" name="Rounded Rectangle 11"/>
          <p:cNvSpPr/>
          <p:nvPr/>
        </p:nvSpPr>
        <p:spPr>
          <a:xfrm>
            <a:off x="4389120" y="3566160"/>
            <a:ext cx="3383280" cy="960120"/>
          </a:xfrm>
          <a:prstGeom prst="roundRect">
            <a:avLst/>
          </a:prstGeom>
          <a:solidFill>
            <a:srgbClr val="FFFFFF"/>
          </a:solidFill>
          <a:ln>
            <a:solidFill>
              <a:srgbClr val="C8D2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08. Balance Ajustado</a:t>
            </a:r>
          </a:p>
          <a:p>
            <a:pPr>
              <a:defRPr sz="1150">
                <a:solidFill>
                  <a:srgbClr val="5F6C64"/>
                </a:solidFill>
              </a:defRPr>
            </a:pPr>
            <a:r>
              <a:t>Base directa para estados financieros</a:t>
            </a:r>
          </a:p>
        </p:txBody>
      </p:sp>
      <p:sp>
        <p:nvSpPr>
          <p:cNvPr id="13" name="Rounded Rectangle 12"/>
          <p:cNvSpPr/>
          <p:nvPr/>
        </p:nvSpPr>
        <p:spPr>
          <a:xfrm>
            <a:off x="8046720" y="3566160"/>
            <a:ext cx="3383280" cy="96012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09. Hoja de Trabajo</a:t>
            </a:r>
          </a:p>
          <a:p>
            <a:pPr>
              <a:defRPr sz="1150">
                <a:solidFill>
                  <a:srgbClr val="5F6C64"/>
                </a:solidFill>
              </a:defRPr>
            </a:pPr>
            <a:r>
              <a:t>10 columnas cuadradas automáticamente</a:t>
            </a:r>
          </a:p>
        </p:txBody>
      </p:sp>
      <p:sp>
        <p:nvSpPr>
          <p:cNvPr id="14" name="Rounded Rectangle 13"/>
          <p:cNvSpPr/>
          <p:nvPr/>
        </p:nvSpPr>
        <p:spPr>
          <a:xfrm>
            <a:off x="731520" y="4617720"/>
            <a:ext cx="3383280" cy="96012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10. Estados Financieros</a:t>
            </a:r>
          </a:p>
          <a:p>
            <a:pPr>
              <a:defRPr sz="1150">
                <a:solidFill>
                  <a:srgbClr val="5F6C64"/>
                </a:solidFill>
              </a:defRPr>
            </a:pPr>
            <a:r>
              <a:t>Estado de Resultados y Situación</a:t>
            </a:r>
          </a:p>
        </p:txBody>
      </p:sp>
      <p:sp>
        <p:nvSpPr>
          <p:cNvPr id="15" name="Rounded Rectangle 14"/>
          <p:cNvSpPr/>
          <p:nvPr/>
        </p:nvSpPr>
        <p:spPr>
          <a:xfrm>
            <a:off x="4389120" y="4617720"/>
            <a:ext cx="3383280" cy="960120"/>
          </a:xfrm>
          <a:prstGeom prst="roundRect">
            <a:avLst/>
          </a:prstGeom>
          <a:solidFill>
            <a:srgbClr val="FFFFFF"/>
          </a:solidFill>
          <a:ln>
            <a:solidFill>
              <a:srgbClr val="C8D2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11. Gráficos Ejecutivos</a:t>
            </a:r>
          </a:p>
          <a:p>
            <a:pPr>
              <a:defRPr sz="1150">
                <a:solidFill>
                  <a:srgbClr val="5F6C64"/>
                </a:solidFill>
              </a:defRPr>
            </a:pPr>
            <a:r>
              <a:t>Visualización de márgenes y activos</a:t>
            </a:r>
          </a:p>
        </p:txBody>
      </p:sp>
      <p:sp>
        <p:nvSpPr>
          <p:cNvPr id="16" name="Rounded Rectangle 15"/>
          <p:cNvSpPr/>
          <p:nvPr/>
        </p:nvSpPr>
        <p:spPr>
          <a:xfrm>
            <a:off x="8046720" y="4617720"/>
            <a:ext cx="3383280" cy="96012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12. Ratios e Indicadores</a:t>
            </a:r>
          </a:p>
          <a:p>
            <a:pPr>
              <a:defRPr sz="1150">
                <a:solidFill>
                  <a:srgbClr val="5F6C64"/>
                </a:solidFill>
              </a:defRPr>
            </a:pPr>
            <a:r>
              <a:t>Los 8 indicadores del examen UTEQ</a:t>
            </a:r>
          </a:p>
        </p:txBody>
      </p:sp>
      <p:sp>
        <p:nvSpPr>
          <p:cNvPr id="17" name="Rounded Rectangle 16"/>
          <p:cNvSpPr/>
          <p:nvPr/>
        </p:nvSpPr>
        <p:spPr>
          <a:xfrm>
            <a:off x="731520" y="5669279"/>
            <a:ext cx="3383280" cy="960120"/>
          </a:xfrm>
          <a:prstGeom prst="roundRect">
            <a:avLst/>
          </a:prstGeom>
          <a:solidFill>
            <a:srgbClr val="FFFFFF"/>
          </a:solidFill>
          <a:ln>
            <a:solidFill>
              <a:srgbClr val="C8D2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13. Cierre Contable</a:t>
            </a:r>
          </a:p>
          <a:p>
            <a:pPr>
              <a:defRPr sz="1150">
                <a:solidFill>
                  <a:srgbClr val="5F6C64"/>
                </a:solidFill>
              </a:defRPr>
            </a:pPr>
            <a:r>
              <a:t>Asientos C1, C2 y C3 definitivos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9C7A2C"/>
                </a:solidFill>
                <a:latin typeface="Segoe UI"/>
              </a:defRPr>
            </a:pPr>
            <a:r>
              <a:t>SECCIÓN 3 · CONFIGURACIÓN DE CUENTAS</a:t>
            </a:r>
          </a:p>
        </p:txBody>
      </p:sp>
      <p:sp>
        <p:nvSpPr>
          <p:cNvPr id="4" name="TextBox 3"/>
          <p:cNvSpPr txBox="1"/>
          <p:nvPr/>
        </p:nvSpPr>
        <p:spPr>
          <a:xfrm>
            <a:off x="731520" y="685800"/>
            <a:ext cx="10698480" cy="640080"/>
          </a:xfrm>
          <a:prstGeom prst="rect">
            <a:avLst/>
          </a:prstGeom>
          <a:noFill/>
        </p:spPr>
        <p:txBody>
          <a:bodyPr wrap="square">
            <a:spAutoFit/>
          </a:bodyPr>
          <a:lstStyle/>
          <a:p>
            <a:pPr>
              <a:defRPr sz="2600" b="1">
                <a:solidFill>
                  <a:srgbClr val="1F5C46"/>
                </a:solidFill>
                <a:latin typeface="Georgia"/>
              </a:defRPr>
            </a:pPr>
            <a:r>
              <a:t>Plan de Cuentas Oficial UTEQ Integrado (83 Cuentas)</a:t>
            </a:r>
          </a:p>
        </p:txBody>
      </p:sp>
      <p:sp>
        <p:nvSpPr>
          <p:cNvPr id="5" name="TextBox 4"/>
          <p:cNvSpPr txBox="1"/>
          <p:nvPr/>
        </p:nvSpPr>
        <p:spPr>
          <a:xfrm>
            <a:off x="731520" y="1463040"/>
            <a:ext cx="5303520" cy="4754880"/>
          </a:xfrm>
          <a:prstGeom prst="rect">
            <a:avLst/>
          </a:prstGeom>
          <a:noFill/>
        </p:spPr>
        <p:txBody>
          <a:bodyPr wrap="square">
            <a:spAutoFit/>
          </a:bodyPr>
          <a:lstStyle/>
          <a:p>
            <a:pPr>
              <a:spcAft>
                <a:spcPts val="1000"/>
              </a:spcAft>
              <a:defRPr b="1" sz="1400">
                <a:solidFill>
                  <a:srgbClr val="1F5C46"/>
                </a:solidFill>
              </a:defRPr>
            </a:pPr>
            <a:r>
              <a:t>• Conformidad con el PDF Oficial: </a:t>
            </a:r>
            <a:r>
              <a:rPr b="0" sz="1300">
                <a:solidFill>
                  <a:srgbClr val="182420"/>
                </a:solidFill>
              </a:rPr>
              <a:t>Se incorporaron el 100% de las 80 cuentas dictadas por la cátedra (Activo, Pasivo, Patrimonio, Ingresos y Gastos) más las cuentas operativas de control.</a:t>
            </a:r>
          </a:p>
          <a:p>
            <a:pPr>
              <a:spcAft>
                <a:spcPts val="1000"/>
              </a:spcAft>
              <a:defRPr b="1" sz="1400">
                <a:solidFill>
                  <a:srgbClr val="1F5C46"/>
                </a:solidFill>
              </a:defRPr>
            </a:pPr>
            <a:r>
              <a:t>• Estructura Codificada: </a:t>
            </a:r>
            <a:r>
              <a:rPr b="0" sz="1300">
                <a:solidFill>
                  <a:srgbClr val="182420"/>
                </a:solidFill>
              </a:rPr>
              <a:t>1. Activos (Corrientes 11 y No Corrientes 12)
2. Pasivos (Corrientes 21 y No Corrientes 22)
3. Patrimonio (Capital 31 y Resultados 32)
4. Ingresos (Operacionales 41 y No Operacionales 42)
5. Gastos (Operativos 51, Ventas 52 y No Operacionales 53)</a:t>
            </a:r>
          </a:p>
          <a:p>
            <a:pPr>
              <a:spcAft>
                <a:spcPts val="1000"/>
              </a:spcAft>
              <a:defRPr b="1" sz="1400">
                <a:solidFill>
                  <a:srgbClr val="1F5C46"/>
                </a:solidFill>
              </a:defRPr>
            </a:pPr>
            <a:r>
              <a:t>• Buscador Predictivo en Vivo: </a:t>
            </a:r>
            <a:r>
              <a:rPr b="0" sz="1300">
                <a:solidFill>
                  <a:srgbClr val="182420"/>
                </a:solidFill>
              </a:rPr>
              <a:t>Filtra en milisegundos por código o nombre (ej. escribir 'Caja Chica' o 'IESS' aísla la cuenta de inmediato).</a:t>
            </a:r>
          </a:p>
          <a:p>
            <a:pPr>
              <a:spcAft>
                <a:spcPts val="1000"/>
              </a:spcAft>
              <a:defRPr b="1" sz="1400">
                <a:solidFill>
                  <a:srgbClr val="1F5C46"/>
                </a:solidFill>
              </a:defRPr>
            </a:pPr>
            <a:r>
              <a:t>• Cuentas Contra y de Cierre: </a:t>
            </a:r>
            <a:r>
              <a:rPr b="0" sz="1300">
                <a:solidFill>
                  <a:srgbClr val="182420"/>
                </a:solidFill>
              </a:rPr>
              <a:t>Reconoce cuentas de naturaleza contraria (Depreciación Acumulada 1202, Provisión Incobrables 1116) y la cuenta puente de liquidación (3900 Resumen de Rentas y Gastos).</a:t>
            </a:r>
          </a:p>
        </p:txBody>
      </p:sp>
      <p:pic>
        <p:nvPicPr>
          <p:cNvPr id="6" name="Picture 5" descr="02_catalogo_82_cuentas.png"/>
          <p:cNvPicPr>
            <a:picLocks noChangeAspect="1"/>
          </p:cNvPicPr>
          <p:nvPr/>
        </p:nvPicPr>
        <p:blipFill>
          <a:blip r:embed="rId2"/>
          <a:stretch>
            <a:fillRect/>
          </a:stretch>
        </p:blipFill>
        <p:spPr>
          <a:xfrm>
            <a:off x="6309360" y="1463040"/>
            <a:ext cx="5120640" cy="275198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9C7A2C"/>
                </a:solidFill>
                <a:latin typeface="Segoe UI"/>
              </a:defRPr>
            </a:pPr>
            <a:r>
              <a:t>SECCIÓN 4 · INTEGRIDAD Y CONTROL</a:t>
            </a:r>
          </a:p>
        </p:txBody>
      </p:sp>
      <p:sp>
        <p:nvSpPr>
          <p:cNvPr id="4" name="TextBox 3"/>
          <p:cNvSpPr txBox="1"/>
          <p:nvPr/>
        </p:nvSpPr>
        <p:spPr>
          <a:xfrm>
            <a:off x="731520" y="685800"/>
            <a:ext cx="10698480" cy="640080"/>
          </a:xfrm>
          <a:prstGeom prst="rect">
            <a:avLst/>
          </a:prstGeom>
          <a:noFill/>
        </p:spPr>
        <p:txBody>
          <a:bodyPr wrap="square">
            <a:spAutoFit/>
          </a:bodyPr>
          <a:lstStyle/>
          <a:p>
            <a:pPr>
              <a:defRPr sz="2600" b="1">
                <a:solidFill>
                  <a:srgbClr val="1F5C46"/>
                </a:solidFill>
                <a:latin typeface="Georgia"/>
              </a:defRPr>
            </a:pPr>
            <a:r>
              <a:t>Motor de Partida Doble y Sistema de Modales Modernos</a:t>
            </a:r>
          </a:p>
        </p:txBody>
      </p:sp>
      <p:sp>
        <p:nvSpPr>
          <p:cNvPr id="5" name="TextBox 4"/>
          <p:cNvSpPr txBox="1"/>
          <p:nvPr/>
        </p:nvSpPr>
        <p:spPr>
          <a:xfrm>
            <a:off x="731520" y="1463040"/>
            <a:ext cx="5303520" cy="4754880"/>
          </a:xfrm>
          <a:prstGeom prst="rect">
            <a:avLst/>
          </a:prstGeom>
          <a:noFill/>
        </p:spPr>
        <p:txBody>
          <a:bodyPr wrap="square">
            <a:spAutoFit/>
          </a:bodyPr>
          <a:lstStyle/>
          <a:p>
            <a:pPr>
              <a:spcAft>
                <a:spcPts val="1200"/>
              </a:spcAft>
              <a:defRPr b="1" sz="1400">
                <a:solidFill>
                  <a:srgbClr val="1F5C46"/>
                </a:solidFill>
              </a:defRPr>
            </a:pPr>
            <a:r>
              <a:t>• Control Matemático Estricto: </a:t>
            </a:r>
            <a:r>
              <a:rPr b="0" sz="1300">
                <a:solidFill>
                  <a:srgbClr val="182420"/>
                </a:solidFill>
              </a:rPr>
              <a:t>El sistema evalúa en cada pulsación de tecla que |Debe - Haber| &lt; 0.01. Si existe diferencia, bloquea el botón de guardar y muestra la alerta en rojo.</a:t>
            </a:r>
          </a:p>
          <a:p>
            <a:pPr>
              <a:spcAft>
                <a:spcPts val="1200"/>
              </a:spcAft>
              <a:defRPr b="1" sz="1400">
                <a:solidFill>
                  <a:srgbClr val="1F5C46"/>
                </a:solidFill>
              </a:defRPr>
            </a:pPr>
            <a:r>
              <a:t>• Mínimo de Líneas Normativas: </a:t>
            </a:r>
            <a:r>
              <a:rPr b="0" sz="1300">
                <a:solidFill>
                  <a:srgbClr val="182420"/>
                </a:solidFill>
              </a:rPr>
              <a:t>Exige al menos dos cuentas con importes válidos para cumplir el principio contable universal.</a:t>
            </a:r>
          </a:p>
          <a:p>
            <a:pPr>
              <a:spcAft>
                <a:spcPts val="1200"/>
              </a:spcAft>
              <a:defRPr b="1" sz="1400">
                <a:solidFill>
                  <a:srgbClr val="1F5C46"/>
                </a:solidFill>
              </a:defRPr>
            </a:pPr>
            <a:r>
              <a:t>• Ventanas Modales Autónomas: </a:t>
            </a:r>
            <a:r>
              <a:rPr b="0" sz="1300">
                <a:solidFill>
                  <a:srgbClr val="182420"/>
                </a:solidFill>
              </a:rPr>
              <a:t>Sin recargar la página, permite editar cualquier asiento del ejercicio recalculando automáticamente mayor, balances y estados financieros.</a:t>
            </a:r>
          </a:p>
          <a:p>
            <a:pPr>
              <a:spcAft>
                <a:spcPts val="1200"/>
              </a:spcAft>
              <a:defRPr b="1" sz="1400">
                <a:solidFill>
                  <a:srgbClr val="1F5C46"/>
                </a:solidFill>
              </a:defRPr>
            </a:pPr>
            <a:r>
              <a:t>• Confirmación de Eliminación: </a:t>
            </a:r>
            <a:r>
              <a:rPr b="0" sz="1300">
                <a:solidFill>
                  <a:srgbClr val="182420"/>
                </a:solidFill>
              </a:rPr>
              <a:t>Detalla el monto, glosa y cuentas afectadas antes de permitir una baja, garantizando que no se borren registros por error.</a:t>
            </a:r>
          </a:p>
        </p:txBody>
      </p:sp>
      <p:pic>
        <p:nvPicPr>
          <p:cNvPr id="6" name="Picture 5" descr="03_modal_partida_doble.png"/>
          <p:cNvPicPr>
            <a:picLocks noChangeAspect="1"/>
          </p:cNvPicPr>
          <p:nvPr/>
        </p:nvPicPr>
        <p:blipFill>
          <a:blip r:embed="rId2"/>
          <a:stretch>
            <a:fillRect/>
          </a:stretch>
        </p:blipFill>
        <p:spPr>
          <a:xfrm>
            <a:off x="6309360" y="1463040"/>
            <a:ext cx="5120640" cy="275198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9C7A2C"/>
                </a:solidFill>
                <a:latin typeface="Segoe UI"/>
              </a:defRPr>
            </a:pPr>
            <a:r>
              <a:t>SECCIÓN 5 · PROCESAMIENTO CONTABLE</a:t>
            </a:r>
          </a:p>
        </p:txBody>
      </p:sp>
      <p:sp>
        <p:nvSpPr>
          <p:cNvPr id="4" name="TextBox 3"/>
          <p:cNvSpPr txBox="1"/>
          <p:nvPr/>
        </p:nvSpPr>
        <p:spPr>
          <a:xfrm>
            <a:off x="731520" y="685800"/>
            <a:ext cx="10698480" cy="640080"/>
          </a:xfrm>
          <a:prstGeom prst="rect">
            <a:avLst/>
          </a:prstGeom>
          <a:noFill/>
        </p:spPr>
        <p:txBody>
          <a:bodyPr wrap="square">
            <a:spAutoFit/>
          </a:bodyPr>
          <a:lstStyle/>
          <a:p>
            <a:pPr>
              <a:defRPr sz="2600" b="1">
                <a:solidFill>
                  <a:srgbClr val="1F5C46"/>
                </a:solidFill>
                <a:latin typeface="Georgia"/>
              </a:defRPr>
            </a:pPr>
            <a:r>
              <a:t>Libro Diario Cronológico y Mayorización Automática en Cuentas T</a:t>
            </a:r>
          </a:p>
        </p:txBody>
      </p:sp>
      <p:sp>
        <p:nvSpPr>
          <p:cNvPr id="5" name="TextBox 4"/>
          <p:cNvSpPr txBox="1"/>
          <p:nvPr/>
        </p:nvSpPr>
        <p:spPr>
          <a:xfrm>
            <a:off x="731520" y="1371600"/>
            <a:ext cx="10728655" cy="1005840"/>
          </a:xfrm>
          <a:prstGeom prst="rect">
            <a:avLst/>
          </a:prstGeom>
          <a:noFill/>
        </p:spPr>
        <p:txBody>
          <a:bodyPr wrap="square">
            <a:spAutoFit/>
          </a:bodyPr>
          <a:lstStyle/>
          <a:p>
            <a:pPr>
              <a:defRPr sz="1400">
                <a:solidFill>
                  <a:srgbClr val="182420"/>
                </a:solidFill>
              </a:defRPr>
            </a:pPr>
            <a:r>
              <a:t>El sistema reclasifica cada movimiento del Diario hacia el Libro Mayor de forma instantánea. Cada cuenta con movimiento despliega su tarjeta T con débitos a la izquierda, créditos a la derecha y saldo deudor o acreedor determinado matemáticamente.</a:t>
            </a:r>
          </a:p>
        </p:txBody>
      </p:sp>
      <p:pic>
        <p:nvPicPr>
          <p:cNvPr id="6" name="Picture 5" descr="04_libro_diario.png"/>
          <p:cNvPicPr>
            <a:picLocks noChangeAspect="1"/>
          </p:cNvPicPr>
          <p:nvPr/>
        </p:nvPicPr>
        <p:blipFill>
          <a:blip r:embed="rId2"/>
          <a:stretch>
            <a:fillRect/>
          </a:stretch>
        </p:blipFill>
        <p:spPr>
          <a:xfrm>
            <a:off x="731520" y="2468880"/>
            <a:ext cx="5212080" cy="2801125"/>
          </a:xfrm>
          <a:prstGeom prst="rect">
            <a:avLst/>
          </a:prstGeom>
        </p:spPr>
      </p:pic>
      <p:pic>
        <p:nvPicPr>
          <p:cNvPr id="7" name="Picture 6" descr="05_libro_mayor_t.png"/>
          <p:cNvPicPr>
            <a:picLocks noChangeAspect="1"/>
          </p:cNvPicPr>
          <p:nvPr/>
        </p:nvPicPr>
        <p:blipFill>
          <a:blip r:embed="rId3"/>
          <a:stretch>
            <a:fillRect/>
          </a:stretch>
        </p:blipFill>
        <p:spPr>
          <a:xfrm>
            <a:off x="6217920" y="2468880"/>
            <a:ext cx="5212080" cy="280112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9C7A2C"/>
                </a:solidFill>
                <a:latin typeface="Segoe UI"/>
              </a:defRPr>
            </a:pPr>
            <a:r>
              <a:t>SECCIÓN 6 · SÍNTESIS Y CIERRE</a:t>
            </a:r>
          </a:p>
        </p:txBody>
      </p:sp>
      <p:sp>
        <p:nvSpPr>
          <p:cNvPr id="4" name="TextBox 3"/>
          <p:cNvSpPr txBox="1"/>
          <p:nvPr/>
        </p:nvSpPr>
        <p:spPr>
          <a:xfrm>
            <a:off x="731520" y="685800"/>
            <a:ext cx="10698480" cy="640080"/>
          </a:xfrm>
          <a:prstGeom prst="rect">
            <a:avLst/>
          </a:prstGeom>
          <a:noFill/>
        </p:spPr>
        <p:txBody>
          <a:bodyPr wrap="square">
            <a:spAutoFit/>
          </a:bodyPr>
          <a:lstStyle/>
          <a:p>
            <a:pPr>
              <a:defRPr sz="2600" b="1">
                <a:solidFill>
                  <a:srgbClr val="1F5C46"/>
                </a:solidFill>
                <a:latin typeface="Georgia"/>
              </a:defRPr>
            </a:pPr>
            <a:r>
              <a:t>Hoja de Trabajo de 10 Columnas y Estados Financieros Clasificados</a:t>
            </a:r>
          </a:p>
        </p:txBody>
      </p:sp>
      <p:sp>
        <p:nvSpPr>
          <p:cNvPr id="5" name="TextBox 4"/>
          <p:cNvSpPr txBox="1"/>
          <p:nvPr/>
        </p:nvSpPr>
        <p:spPr>
          <a:xfrm>
            <a:off x="731520" y="1371600"/>
            <a:ext cx="10728655" cy="1005840"/>
          </a:xfrm>
          <a:prstGeom prst="rect">
            <a:avLst/>
          </a:prstGeom>
          <a:noFill/>
        </p:spPr>
        <p:txBody>
          <a:bodyPr wrap="square">
            <a:spAutoFit/>
          </a:bodyPr>
          <a:lstStyle/>
          <a:p>
            <a:pPr>
              <a:defRPr sz="1400">
                <a:solidFill>
                  <a:srgbClr val="182420"/>
                </a:solidFill>
              </a:defRPr>
            </a:pPr>
            <a:r>
              <a:t>La Hoja de Trabajo actúa como puente entre los ajustes y los estados finales: segrega ingresos y gastos hacia el Estado de Resultados y activos, pasivos y patrimonio hacia la Situación Financiera, verificando que la Utilidad Neta ($1,070.00) cuadre exactamente en ambas secciones.</a:t>
            </a:r>
          </a:p>
        </p:txBody>
      </p:sp>
      <p:pic>
        <p:nvPicPr>
          <p:cNvPr id="6" name="Picture 5" descr="06_hoja_trabajo_10_columnas.png"/>
          <p:cNvPicPr>
            <a:picLocks noChangeAspect="1"/>
          </p:cNvPicPr>
          <p:nvPr/>
        </p:nvPicPr>
        <p:blipFill>
          <a:blip r:embed="rId2"/>
          <a:stretch>
            <a:fillRect/>
          </a:stretch>
        </p:blipFill>
        <p:spPr>
          <a:xfrm>
            <a:off x="731520" y="2468880"/>
            <a:ext cx="5212080" cy="2801125"/>
          </a:xfrm>
          <a:prstGeom prst="rect">
            <a:avLst/>
          </a:prstGeom>
        </p:spPr>
      </p:pic>
      <p:pic>
        <p:nvPicPr>
          <p:cNvPr id="7" name="Picture 6" descr="07_estados_financieros.png"/>
          <p:cNvPicPr>
            <a:picLocks noChangeAspect="1"/>
          </p:cNvPicPr>
          <p:nvPr/>
        </p:nvPicPr>
        <p:blipFill>
          <a:blip r:embed="rId3"/>
          <a:stretch>
            <a:fillRect/>
          </a:stretch>
        </p:blipFill>
        <p:spPr>
          <a:xfrm>
            <a:off x="6217920" y="2468880"/>
            <a:ext cx="5212080" cy="280112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9C7A2C"/>
                </a:solidFill>
                <a:latin typeface="Segoe UI"/>
              </a:defRPr>
            </a:pPr>
            <a:r>
              <a:t>SECCIÓN 7A · ANÁLISIS FINANCIERO PREVIO</a:t>
            </a:r>
          </a:p>
        </p:txBody>
      </p:sp>
      <p:sp>
        <p:nvSpPr>
          <p:cNvPr id="4" name="TextBox 3"/>
          <p:cNvSpPr txBox="1"/>
          <p:nvPr/>
        </p:nvSpPr>
        <p:spPr>
          <a:xfrm>
            <a:off x="731520" y="685800"/>
            <a:ext cx="10698480" cy="640080"/>
          </a:xfrm>
          <a:prstGeom prst="rect">
            <a:avLst/>
          </a:prstGeom>
          <a:noFill/>
        </p:spPr>
        <p:txBody>
          <a:bodyPr wrap="square">
            <a:spAutoFit/>
          </a:bodyPr>
          <a:lstStyle/>
          <a:p>
            <a:pPr>
              <a:defRPr sz="2600" b="1">
                <a:solidFill>
                  <a:srgbClr val="1F5C46"/>
                </a:solidFill>
                <a:latin typeface="Georgia"/>
              </a:defRPr>
            </a:pPr>
            <a:r>
              <a:t>Análisis Horizontal: Variación Absoluta ($) y Porcentual (%) (2024 vs 2025)</a:t>
            </a:r>
          </a:p>
        </p:txBody>
      </p:sp>
      <p:sp>
        <p:nvSpPr>
          <p:cNvPr id="5" name="TextBox 4"/>
          <p:cNvSpPr txBox="1"/>
          <p:nvPr/>
        </p:nvSpPr>
        <p:spPr>
          <a:xfrm>
            <a:off x="731520" y="1417320"/>
            <a:ext cx="10728655" cy="4846320"/>
          </a:xfrm>
          <a:prstGeom prst="rect">
            <a:avLst/>
          </a:prstGeom>
          <a:noFill/>
        </p:spPr>
        <p:txBody>
          <a:bodyPr wrap="square">
            <a:spAutoFit/>
          </a:bodyPr>
          <a:lstStyle/>
          <a:p>
            <a:pPr>
              <a:defRPr b="1" sz="1500">
                <a:solidFill>
                  <a:srgbClr val="9C7A2C"/>
                </a:solidFill>
              </a:defRPr>
            </a:pPr>
            <a:r>
              <a:t>FÓRMULAS MATEMÁTICAS DEL ANÁLISIS HORIZONTAL (PREVIAS A LOS RATIOS):</a:t>
            </a:r>
          </a:p>
          <a:p>
            <a:pPr>
              <a:spcAft>
                <a:spcPts val="1000"/>
              </a:spcAft>
              <a:defRPr b="1" sz="1300">
                <a:solidFill>
                  <a:srgbClr val="1F5C46"/>
                </a:solidFill>
              </a:defRPr>
            </a:pPr>
            <a:r>
              <a:t>• Variación Absoluta ($) = Valor Año 2025 – Valor Año 2024</a:t>
            </a:r>
            <a:br/>
            <a:r>
              <a:t>• Variación Porcentual (%) = [(Valor Año 2025 – Valor Año 2024) ÷ Valor Año 2024] × 100</a:t>
            </a:r>
          </a:p>
        </p:txBody>
      </p:sp>
      <p:graphicFrame>
        <p:nvGraphicFramePr>
          <p:cNvPr id="6" name="Table 5"/>
          <p:cNvGraphicFramePr>
            <a:graphicFrameLocks noGrp="1"/>
          </p:cNvGraphicFramePr>
          <p:nvPr/>
        </p:nvGraphicFramePr>
        <p:xfrm>
          <a:off x="731520" y="2514600"/>
          <a:ext cx="10728655" cy="3566160"/>
        </p:xfrm>
        <a:graphic>
          <a:graphicData uri="http://schemas.openxmlformats.org/drawingml/2006/table">
            <a:tbl>
              <a:tblPr firstRow="1" bandRow="1">
                <a:tableStyleId>{5C22544A-7EE6-4342-B048-85BDC9FD1C3A}</a:tableStyleId>
              </a:tblPr>
              <a:tblGrid>
                <a:gridCol w="3017520"/>
                <a:gridCol w="1920240"/>
                <a:gridCol w="1920240"/>
                <a:gridCol w="1920240"/>
                <a:gridCol w="1950415"/>
              </a:tblGrid>
              <a:tr h="509451">
                <a:tc>
                  <a:txBody>
                    <a:bodyPr/>
                    <a:lstStyle/>
                    <a:p>
                      <a:pPr>
                        <a:defRPr b="1" sz="1200">
                          <a:solidFill>
                            <a:srgbClr val="FFFFFF"/>
                          </a:solidFill>
                        </a:defRPr>
                      </a:pPr>
                      <a:r>
                        <a:t>Rubro / Cuenta del Examen</a:t>
                      </a:r>
                    </a:p>
                  </a:txBody>
                  <a:tcPr>
                    <a:solidFill>
                      <a:srgbClr val="1F5C46"/>
                    </a:solidFill>
                  </a:tcPr>
                </a:tc>
                <a:tc>
                  <a:txBody>
                    <a:bodyPr/>
                    <a:lstStyle/>
                    <a:p>
                      <a:pPr>
                        <a:defRPr b="1" sz="1200">
                          <a:solidFill>
                            <a:srgbClr val="FFFFFF"/>
                          </a:solidFill>
                        </a:defRPr>
                      </a:pPr>
                      <a:r>
                        <a:t>Año 2024 ($)</a:t>
                      </a:r>
                    </a:p>
                  </a:txBody>
                  <a:tcPr>
                    <a:solidFill>
                      <a:srgbClr val="1F5C46"/>
                    </a:solidFill>
                  </a:tcPr>
                </a:tc>
                <a:tc>
                  <a:txBody>
                    <a:bodyPr/>
                    <a:lstStyle/>
                    <a:p>
                      <a:pPr>
                        <a:defRPr b="1" sz="1200">
                          <a:solidFill>
                            <a:srgbClr val="FFFFFF"/>
                          </a:solidFill>
                        </a:defRPr>
                      </a:pPr>
                      <a:r>
                        <a:t>Año 2025 ($)</a:t>
                      </a:r>
                    </a:p>
                  </a:txBody>
                  <a:tcPr>
                    <a:solidFill>
                      <a:srgbClr val="1F5C46"/>
                    </a:solidFill>
                  </a:tcPr>
                </a:tc>
                <a:tc>
                  <a:txBody>
                    <a:bodyPr/>
                    <a:lstStyle/>
                    <a:p>
                      <a:pPr>
                        <a:defRPr b="1" sz="1200">
                          <a:solidFill>
                            <a:srgbClr val="FFFFFF"/>
                          </a:solidFill>
                        </a:defRPr>
                      </a:pPr>
                      <a:r>
                        <a:t>Var. Absoluta ($)</a:t>
                      </a:r>
                    </a:p>
                  </a:txBody>
                  <a:tcPr>
                    <a:solidFill>
                      <a:srgbClr val="1F5C46"/>
                    </a:solidFill>
                  </a:tcPr>
                </a:tc>
                <a:tc>
                  <a:txBody>
                    <a:bodyPr/>
                    <a:lstStyle/>
                    <a:p>
                      <a:pPr>
                        <a:defRPr b="1" sz="1200">
                          <a:solidFill>
                            <a:srgbClr val="FFFFFF"/>
                          </a:solidFill>
                        </a:defRPr>
                      </a:pPr>
                      <a:r>
                        <a:t>Var. Porcentual (%)</a:t>
                      </a:r>
                    </a:p>
                  </a:txBody>
                  <a:tcPr>
                    <a:solidFill>
                      <a:srgbClr val="1F5C46"/>
                    </a:solidFill>
                  </a:tcPr>
                </a:tc>
              </a:tr>
              <a:tr h="509451">
                <a:tc>
                  <a:txBody>
                    <a:bodyPr/>
                    <a:lstStyle/>
                    <a:p>
                      <a:pPr>
                        <a:defRPr sz="1100" b="1">
                          <a:solidFill>
                            <a:srgbClr val="182420"/>
                          </a:solidFill>
                        </a:defRPr>
                      </a:pPr>
                      <a:r>
                        <a:t>Ventas Netas</a:t>
                      </a:r>
                    </a:p>
                  </a:txBody>
                  <a:tcPr>
                    <a:solidFill>
                      <a:srgbClr val="F5F8F6"/>
                    </a:solidFill>
                  </a:tcPr>
                </a:tc>
                <a:tc>
                  <a:txBody>
                    <a:bodyPr/>
                    <a:lstStyle/>
                    <a:p>
                      <a:pPr>
                        <a:defRPr sz="1100">
                          <a:solidFill>
                            <a:srgbClr val="182420"/>
                          </a:solidFill>
                        </a:defRPr>
                      </a:pPr>
                      <a:r>
                        <a:t>$250,000.00</a:t>
                      </a:r>
                    </a:p>
                  </a:txBody>
                  <a:tcPr>
                    <a:solidFill>
                      <a:srgbClr val="F5F8F6"/>
                    </a:solidFill>
                  </a:tcPr>
                </a:tc>
                <a:tc>
                  <a:txBody>
                    <a:bodyPr/>
                    <a:lstStyle/>
                    <a:p>
                      <a:pPr>
                        <a:defRPr sz="1100">
                          <a:solidFill>
                            <a:srgbClr val="182420"/>
                          </a:solidFill>
                        </a:defRPr>
                      </a:pPr>
                      <a:r>
                        <a:t>$300,000.00</a:t>
                      </a:r>
                    </a:p>
                  </a:txBody>
                  <a:tcPr>
                    <a:solidFill>
                      <a:srgbClr val="F5F8F6"/>
                    </a:solidFill>
                  </a:tcPr>
                </a:tc>
                <a:tc>
                  <a:txBody>
                    <a:bodyPr/>
                    <a:lstStyle/>
                    <a:p>
                      <a:pPr>
                        <a:defRPr sz="1100">
                          <a:solidFill>
                            <a:srgbClr val="182420"/>
                          </a:solidFill>
                        </a:defRPr>
                      </a:pPr>
                      <a:r>
                        <a:t>+$50,000.00</a:t>
                      </a:r>
                    </a:p>
                  </a:txBody>
                  <a:tcPr>
                    <a:solidFill>
                      <a:srgbClr val="F5F8F6"/>
                    </a:solidFill>
                  </a:tcPr>
                </a:tc>
                <a:tc>
                  <a:txBody>
                    <a:bodyPr/>
                    <a:lstStyle/>
                    <a:p>
                      <a:pPr>
                        <a:defRPr sz="1100">
                          <a:solidFill>
                            <a:srgbClr val="182420"/>
                          </a:solidFill>
                        </a:defRPr>
                      </a:pPr>
                      <a:r>
                        <a:t>+20.00% (Favorable)</a:t>
                      </a:r>
                    </a:p>
                  </a:txBody>
                  <a:tcPr>
                    <a:solidFill>
                      <a:srgbClr val="F5F8F6"/>
                    </a:solidFill>
                  </a:tcPr>
                </a:tc>
              </a:tr>
              <a:tr h="509451">
                <a:tc>
                  <a:txBody>
                    <a:bodyPr/>
                    <a:lstStyle/>
                    <a:p>
                      <a:pPr>
                        <a:defRPr sz="1100" b="1">
                          <a:solidFill>
                            <a:srgbClr val="182420"/>
                          </a:solidFill>
                        </a:defRPr>
                      </a:pPr>
                      <a:r>
                        <a:t>Costo de Ventas</a:t>
                      </a:r>
                    </a:p>
                  </a:txBody>
                  <a:tcPr>
                    <a:solidFill>
                      <a:srgbClr val="FFFFFF"/>
                    </a:solidFill>
                  </a:tcPr>
                </a:tc>
                <a:tc>
                  <a:txBody>
                    <a:bodyPr/>
                    <a:lstStyle/>
                    <a:p>
                      <a:pPr>
                        <a:defRPr sz="1100">
                          <a:solidFill>
                            <a:srgbClr val="182420"/>
                          </a:solidFill>
                        </a:defRPr>
                      </a:pPr>
                      <a:r>
                        <a:t>$160,000.00</a:t>
                      </a:r>
                    </a:p>
                  </a:txBody>
                  <a:tcPr>
                    <a:solidFill>
                      <a:srgbClr val="FFFFFF"/>
                    </a:solidFill>
                  </a:tcPr>
                </a:tc>
                <a:tc>
                  <a:txBody>
                    <a:bodyPr/>
                    <a:lstStyle/>
                    <a:p>
                      <a:pPr>
                        <a:defRPr sz="1100">
                          <a:solidFill>
                            <a:srgbClr val="182420"/>
                          </a:solidFill>
                        </a:defRPr>
                      </a:pPr>
                      <a:r>
                        <a:t>$210,000.00</a:t>
                      </a:r>
                    </a:p>
                  </a:txBody>
                  <a:tcPr>
                    <a:solidFill>
                      <a:srgbClr val="FFFFFF"/>
                    </a:solidFill>
                  </a:tcPr>
                </a:tc>
                <a:tc>
                  <a:txBody>
                    <a:bodyPr/>
                    <a:lstStyle/>
                    <a:p>
                      <a:pPr>
                        <a:defRPr sz="1100">
                          <a:solidFill>
                            <a:srgbClr val="182420"/>
                          </a:solidFill>
                        </a:defRPr>
                      </a:pPr>
                      <a:r>
                        <a:t>+$50,000.00</a:t>
                      </a:r>
                    </a:p>
                  </a:txBody>
                  <a:tcPr>
                    <a:solidFill>
                      <a:srgbClr val="FFFFFF"/>
                    </a:solidFill>
                  </a:tcPr>
                </a:tc>
                <a:tc>
                  <a:txBody>
                    <a:bodyPr/>
                    <a:lstStyle/>
                    <a:p>
                      <a:pPr>
                        <a:defRPr sz="1100" b="1">
                          <a:solidFill>
                            <a:srgbClr val="BE1E1E"/>
                          </a:solidFill>
                        </a:defRPr>
                      </a:pPr>
                      <a:r>
                        <a:t>+31.25% (¡Alerta Sobrecosto!)</a:t>
                      </a:r>
                    </a:p>
                  </a:txBody>
                  <a:tcPr>
                    <a:solidFill>
                      <a:srgbClr val="FFFFFF"/>
                    </a:solidFill>
                  </a:tcPr>
                </a:tc>
              </a:tr>
              <a:tr h="509451">
                <a:tc>
                  <a:txBody>
                    <a:bodyPr/>
                    <a:lstStyle/>
                    <a:p>
                      <a:pPr>
                        <a:defRPr sz="1100" b="1">
                          <a:solidFill>
                            <a:srgbClr val="182420"/>
                          </a:solidFill>
                        </a:defRPr>
                      </a:pPr>
                      <a:r>
                        <a:t>Utilidad Bruta</a:t>
                      </a:r>
                    </a:p>
                  </a:txBody>
                  <a:tcPr>
                    <a:solidFill>
                      <a:srgbClr val="F5F8F6"/>
                    </a:solidFill>
                  </a:tcPr>
                </a:tc>
                <a:tc>
                  <a:txBody>
                    <a:bodyPr/>
                    <a:lstStyle/>
                    <a:p>
                      <a:pPr>
                        <a:defRPr sz="1100">
                          <a:solidFill>
                            <a:srgbClr val="182420"/>
                          </a:solidFill>
                        </a:defRPr>
                      </a:pPr>
                      <a:r>
                        <a:t>$90,000.00</a:t>
                      </a:r>
                    </a:p>
                  </a:txBody>
                  <a:tcPr>
                    <a:solidFill>
                      <a:srgbClr val="F5F8F6"/>
                    </a:solidFill>
                  </a:tcPr>
                </a:tc>
                <a:tc>
                  <a:txBody>
                    <a:bodyPr/>
                    <a:lstStyle/>
                    <a:p>
                      <a:pPr>
                        <a:defRPr sz="1100">
                          <a:solidFill>
                            <a:srgbClr val="182420"/>
                          </a:solidFill>
                        </a:defRPr>
                      </a:pPr>
                      <a:r>
                        <a:t>$90,000.00</a:t>
                      </a:r>
                    </a:p>
                  </a:txBody>
                  <a:tcPr>
                    <a:solidFill>
                      <a:srgbClr val="F5F8F6"/>
                    </a:solidFill>
                  </a:tcPr>
                </a:tc>
                <a:tc>
                  <a:txBody>
                    <a:bodyPr/>
                    <a:lstStyle/>
                    <a:p>
                      <a:pPr>
                        <a:defRPr sz="1100">
                          <a:solidFill>
                            <a:srgbClr val="182420"/>
                          </a:solidFill>
                        </a:defRPr>
                      </a:pPr>
                      <a:r>
                        <a:t>$0.00</a:t>
                      </a:r>
                    </a:p>
                  </a:txBody>
                  <a:tcPr>
                    <a:solidFill>
                      <a:srgbClr val="F5F8F6"/>
                    </a:solidFill>
                  </a:tcPr>
                </a:tc>
                <a:tc>
                  <a:txBody>
                    <a:bodyPr/>
                    <a:lstStyle/>
                    <a:p>
                      <a:pPr>
                        <a:defRPr sz="1100">
                          <a:solidFill>
                            <a:srgbClr val="182420"/>
                          </a:solidFill>
                        </a:defRPr>
                      </a:pPr>
                      <a:r>
                        <a:t>0.00% (Estancamiento)</a:t>
                      </a:r>
                    </a:p>
                  </a:txBody>
                  <a:tcPr>
                    <a:solidFill>
                      <a:srgbClr val="F5F8F6"/>
                    </a:solidFill>
                  </a:tcPr>
                </a:tc>
              </a:tr>
              <a:tr h="509451">
                <a:tc>
                  <a:txBody>
                    <a:bodyPr/>
                    <a:lstStyle/>
                    <a:p>
                      <a:pPr>
                        <a:defRPr sz="1100" b="1">
                          <a:solidFill>
                            <a:srgbClr val="182420"/>
                          </a:solidFill>
                        </a:defRPr>
                      </a:pPr>
                      <a:r>
                        <a:t>Gastos Operativos</a:t>
                      </a:r>
                    </a:p>
                  </a:txBody>
                  <a:tcPr>
                    <a:solidFill>
                      <a:srgbClr val="FFFFFF"/>
                    </a:solidFill>
                  </a:tcPr>
                </a:tc>
                <a:tc>
                  <a:txBody>
                    <a:bodyPr/>
                    <a:lstStyle/>
                    <a:p>
                      <a:pPr>
                        <a:defRPr sz="1100">
                          <a:solidFill>
                            <a:srgbClr val="182420"/>
                          </a:solidFill>
                        </a:defRPr>
                      </a:pPr>
                      <a:r>
                        <a:t>$57,000.00</a:t>
                      </a:r>
                    </a:p>
                  </a:txBody>
                  <a:tcPr>
                    <a:solidFill>
                      <a:srgbClr val="FFFFFF"/>
                    </a:solidFill>
                  </a:tcPr>
                </a:tc>
                <a:tc>
                  <a:txBody>
                    <a:bodyPr/>
                    <a:lstStyle/>
                    <a:p>
                      <a:pPr>
                        <a:defRPr sz="1100">
                          <a:solidFill>
                            <a:srgbClr val="182420"/>
                          </a:solidFill>
                        </a:defRPr>
                      </a:pPr>
                      <a:r>
                        <a:t>$69,000.00</a:t>
                      </a:r>
                    </a:p>
                  </a:txBody>
                  <a:tcPr>
                    <a:solidFill>
                      <a:srgbClr val="FFFFFF"/>
                    </a:solidFill>
                  </a:tcPr>
                </a:tc>
                <a:tc>
                  <a:txBody>
                    <a:bodyPr/>
                    <a:lstStyle/>
                    <a:p>
                      <a:pPr>
                        <a:defRPr sz="1100">
                          <a:solidFill>
                            <a:srgbClr val="182420"/>
                          </a:solidFill>
                        </a:defRPr>
                      </a:pPr>
                      <a:r>
                        <a:t>+$12,000.00</a:t>
                      </a:r>
                    </a:p>
                  </a:txBody>
                  <a:tcPr>
                    <a:solidFill>
                      <a:srgbClr val="FFFFFF"/>
                    </a:solidFill>
                  </a:tcPr>
                </a:tc>
                <a:tc>
                  <a:txBody>
                    <a:bodyPr/>
                    <a:lstStyle/>
                    <a:p>
                      <a:pPr>
                        <a:defRPr sz="1100">
                          <a:solidFill>
                            <a:srgbClr val="182420"/>
                          </a:solidFill>
                        </a:defRPr>
                      </a:pPr>
                      <a:r>
                        <a:t>+21.05% (Incremento)</a:t>
                      </a:r>
                    </a:p>
                  </a:txBody>
                  <a:tcPr>
                    <a:solidFill>
                      <a:srgbClr val="FFFFFF"/>
                    </a:solidFill>
                  </a:tcPr>
                </a:tc>
              </a:tr>
              <a:tr h="509451">
                <a:tc>
                  <a:txBody>
                    <a:bodyPr/>
                    <a:lstStyle/>
                    <a:p>
                      <a:pPr>
                        <a:defRPr sz="1100" b="1">
                          <a:solidFill>
                            <a:srgbClr val="182420"/>
                          </a:solidFill>
                        </a:defRPr>
                      </a:pPr>
                      <a:r>
                        <a:t>Utilidad Neta del Ejercicio</a:t>
                      </a:r>
                    </a:p>
                  </a:txBody>
                  <a:tcPr>
                    <a:solidFill>
                      <a:srgbClr val="F5F8F6"/>
                    </a:solidFill>
                  </a:tcPr>
                </a:tc>
                <a:tc>
                  <a:txBody>
                    <a:bodyPr/>
                    <a:lstStyle/>
                    <a:p>
                      <a:pPr>
                        <a:defRPr sz="1100">
                          <a:solidFill>
                            <a:srgbClr val="182420"/>
                          </a:solidFill>
                        </a:defRPr>
                      </a:pPr>
                      <a:r>
                        <a:t>$33,000.00</a:t>
                      </a:r>
                    </a:p>
                  </a:txBody>
                  <a:tcPr>
                    <a:solidFill>
                      <a:srgbClr val="F5F8F6"/>
                    </a:solidFill>
                  </a:tcPr>
                </a:tc>
                <a:tc>
                  <a:txBody>
                    <a:bodyPr/>
                    <a:lstStyle/>
                    <a:p>
                      <a:pPr>
                        <a:defRPr sz="1100">
                          <a:solidFill>
                            <a:srgbClr val="182420"/>
                          </a:solidFill>
                        </a:defRPr>
                      </a:pPr>
                      <a:r>
                        <a:t>$21,000.00</a:t>
                      </a:r>
                    </a:p>
                  </a:txBody>
                  <a:tcPr>
                    <a:solidFill>
                      <a:srgbClr val="F5F8F6"/>
                    </a:solidFill>
                  </a:tcPr>
                </a:tc>
                <a:tc>
                  <a:txBody>
                    <a:bodyPr/>
                    <a:lstStyle/>
                    <a:p>
                      <a:pPr>
                        <a:defRPr sz="1100">
                          <a:solidFill>
                            <a:srgbClr val="182420"/>
                          </a:solidFill>
                        </a:defRPr>
                      </a:pPr>
                      <a:r>
                        <a:t>-$12,000.00</a:t>
                      </a:r>
                    </a:p>
                  </a:txBody>
                  <a:tcPr>
                    <a:solidFill>
                      <a:srgbClr val="F5F8F6"/>
                    </a:solidFill>
                  </a:tcPr>
                </a:tc>
                <a:tc>
                  <a:txBody>
                    <a:bodyPr/>
                    <a:lstStyle/>
                    <a:p>
                      <a:pPr>
                        <a:defRPr sz="1100" b="1">
                          <a:solidFill>
                            <a:srgbClr val="BE1E1E"/>
                          </a:solidFill>
                        </a:defRPr>
                      </a:pPr>
                      <a:r>
                        <a:t>-36.36% (¡Caída Severa!)</a:t>
                      </a:r>
                    </a:p>
                  </a:txBody>
                  <a:tcPr>
                    <a:solidFill>
                      <a:srgbClr val="F5F8F6"/>
                    </a:solidFill>
                  </a:tcPr>
                </a:tc>
              </a:tr>
              <a:tr h="509454">
                <a:tc>
                  <a:txBody>
                    <a:bodyPr/>
                    <a:lstStyle/>
                    <a:p>
                      <a:pPr>
                        <a:defRPr sz="1100" b="1">
                          <a:solidFill>
                            <a:srgbClr val="182420"/>
                          </a:solidFill>
                        </a:defRPr>
                      </a:pPr>
                      <a:r>
                        <a:t>Total Pasivo (Endeudamiento)</a:t>
                      </a:r>
                    </a:p>
                  </a:txBody>
                  <a:tcPr>
                    <a:solidFill>
                      <a:srgbClr val="FFFFFF"/>
                    </a:solidFill>
                  </a:tcPr>
                </a:tc>
                <a:tc>
                  <a:txBody>
                    <a:bodyPr/>
                    <a:lstStyle/>
                    <a:p>
                      <a:pPr>
                        <a:defRPr sz="1100">
                          <a:solidFill>
                            <a:srgbClr val="182420"/>
                          </a:solidFill>
                        </a:defRPr>
                      </a:pPr>
                      <a:r>
                        <a:t>$170,000.00</a:t>
                      </a:r>
                    </a:p>
                  </a:txBody>
                  <a:tcPr>
                    <a:solidFill>
                      <a:srgbClr val="FFFFFF"/>
                    </a:solidFill>
                  </a:tcPr>
                </a:tc>
                <a:tc>
                  <a:txBody>
                    <a:bodyPr/>
                    <a:lstStyle/>
                    <a:p>
                      <a:pPr>
                        <a:defRPr sz="1100">
                          <a:solidFill>
                            <a:srgbClr val="182420"/>
                          </a:solidFill>
                        </a:defRPr>
                      </a:pPr>
                      <a:r>
                        <a:t>$206,000.00</a:t>
                      </a:r>
                    </a:p>
                  </a:txBody>
                  <a:tcPr>
                    <a:solidFill>
                      <a:srgbClr val="FFFFFF"/>
                    </a:solidFill>
                  </a:tcPr>
                </a:tc>
                <a:tc>
                  <a:txBody>
                    <a:bodyPr/>
                    <a:lstStyle/>
                    <a:p>
                      <a:pPr>
                        <a:defRPr sz="1100">
                          <a:solidFill>
                            <a:srgbClr val="182420"/>
                          </a:solidFill>
                        </a:defRPr>
                      </a:pPr>
                      <a:r>
                        <a:t>+$36,000.00</a:t>
                      </a:r>
                    </a:p>
                  </a:txBody>
                  <a:tcPr>
                    <a:solidFill>
                      <a:srgbClr val="FFFFFF"/>
                    </a:solidFill>
                  </a:tcPr>
                </a:tc>
                <a:tc>
                  <a:txBody>
                    <a:bodyPr/>
                    <a:lstStyle/>
                    <a:p>
                      <a:pPr>
                        <a:defRPr sz="1100" b="1">
                          <a:solidFill>
                            <a:srgbClr val="BE1E1E"/>
                          </a:solidFill>
                        </a:defRPr>
                      </a:pPr>
                      <a:r>
                        <a:t>+21.18% (Mayor deuda)</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9C7A2C"/>
                </a:solidFill>
                <a:latin typeface="Segoe UI"/>
              </a:defRPr>
            </a:pPr>
            <a:r>
              <a:t>SECCIÓN 7B · RATIOS FINANCIEROS REQUERIDOS</a:t>
            </a:r>
          </a:p>
        </p:txBody>
      </p:sp>
      <p:sp>
        <p:nvSpPr>
          <p:cNvPr id="4" name="TextBox 3"/>
          <p:cNvSpPr txBox="1"/>
          <p:nvPr/>
        </p:nvSpPr>
        <p:spPr>
          <a:xfrm>
            <a:off x="731520" y="685800"/>
            <a:ext cx="10698480" cy="640080"/>
          </a:xfrm>
          <a:prstGeom prst="rect">
            <a:avLst/>
          </a:prstGeom>
          <a:noFill/>
        </p:spPr>
        <p:txBody>
          <a:bodyPr wrap="square">
            <a:spAutoFit/>
          </a:bodyPr>
          <a:lstStyle/>
          <a:p>
            <a:pPr>
              <a:defRPr sz="2600" b="1">
                <a:solidFill>
                  <a:srgbClr val="1F5C46"/>
                </a:solidFill>
                <a:latin typeface="Georgia"/>
              </a:defRPr>
            </a:pPr>
            <a:r>
              <a:t>Los 8 Indicadores Financieros (Distribuidora Industrial Andina S.A.)</a:t>
            </a:r>
          </a:p>
        </p:txBody>
      </p:sp>
      <p:sp>
        <p:nvSpPr>
          <p:cNvPr id="5" name="TextBox 4"/>
          <p:cNvSpPr txBox="1"/>
          <p:nvPr/>
        </p:nvSpPr>
        <p:spPr>
          <a:xfrm>
            <a:off x="731520" y="1463040"/>
            <a:ext cx="5303520" cy="4754880"/>
          </a:xfrm>
          <a:prstGeom prst="rect">
            <a:avLst/>
          </a:prstGeom>
          <a:noFill/>
        </p:spPr>
        <p:txBody>
          <a:bodyPr wrap="square">
            <a:spAutoFit/>
          </a:bodyPr>
          <a:lstStyle/>
          <a:p>
            <a:pPr>
              <a:spcAft>
                <a:spcPts val="600"/>
              </a:spcAft>
              <a:defRPr b="1" sz="1350">
                <a:solidFill>
                  <a:srgbClr val="1F5C46"/>
                </a:solidFill>
              </a:defRPr>
            </a:pPr>
            <a:r>
              <a:t>• 1. Razón Corriente: </a:t>
            </a:r>
            <a:r>
              <a:rPr b="0" sz="1300">
                <a:solidFill>
                  <a:srgbClr val="182420"/>
                </a:solidFill>
              </a:rPr>
              <a:t>2024: 2.43 veces | 2025: 2.45 veces (+0.02)</a:t>
            </a:r>
          </a:p>
          <a:p>
            <a:pPr>
              <a:spcAft>
                <a:spcPts val="600"/>
              </a:spcAft>
              <a:defRPr b="1" sz="1350">
                <a:solidFill>
                  <a:srgbClr val="1F5C46"/>
                </a:solidFill>
              </a:defRPr>
            </a:pPr>
            <a:r>
              <a:t>• 2. Prueba Ácida: </a:t>
            </a:r>
            <a:r>
              <a:rPr b="0" sz="1300">
                <a:solidFill>
                  <a:srgbClr val="182420"/>
                </a:solidFill>
              </a:rPr>
              <a:t>2024: 1.14 veces | 2025: 0.95 veces (-0.19) [ALERTA]</a:t>
            </a:r>
          </a:p>
          <a:p>
            <a:pPr>
              <a:spcAft>
                <a:spcPts val="600"/>
              </a:spcAft>
              <a:defRPr b="1" sz="1350">
                <a:solidFill>
                  <a:srgbClr val="1F5C46"/>
                </a:solidFill>
              </a:defRPr>
            </a:pPr>
            <a:r>
              <a:t>• 3. Endeudamiento: </a:t>
            </a:r>
            <a:r>
              <a:rPr b="0" sz="1300">
                <a:solidFill>
                  <a:srgbClr val="182420"/>
                </a:solidFill>
              </a:rPr>
              <a:t>2024: 24.26% | 2025: 29.60% (+5.34%)</a:t>
            </a:r>
          </a:p>
          <a:p>
            <a:pPr>
              <a:spcAft>
                <a:spcPts val="600"/>
              </a:spcAft>
              <a:defRPr b="1" sz="1350">
                <a:solidFill>
                  <a:srgbClr val="1F5C46"/>
                </a:solidFill>
              </a:defRPr>
            </a:pPr>
            <a:r>
              <a:t>• 4. Deuda / Patrimonio: </a:t>
            </a:r>
            <a:r>
              <a:rPr b="0" sz="1300">
                <a:solidFill>
                  <a:srgbClr val="182420"/>
                </a:solidFill>
              </a:rPr>
              <a:t>2024: 0.32 | 2025: 0.42 (+0.10)</a:t>
            </a:r>
          </a:p>
          <a:p>
            <a:pPr>
              <a:spcAft>
                <a:spcPts val="600"/>
              </a:spcAft>
              <a:defRPr b="1" sz="1350">
                <a:solidFill>
                  <a:srgbClr val="1F5C46"/>
                </a:solidFill>
              </a:defRPr>
            </a:pPr>
            <a:r>
              <a:t>• 5. ROA (Rent. Activos): </a:t>
            </a:r>
            <a:r>
              <a:rPr b="0" sz="1300">
                <a:solidFill>
                  <a:srgbClr val="182420"/>
                </a:solidFill>
              </a:rPr>
              <a:t>2024: 14.04% | 2025: 8.40% (-5.64%)</a:t>
            </a:r>
          </a:p>
          <a:p>
            <a:pPr>
              <a:spcAft>
                <a:spcPts val="600"/>
              </a:spcAft>
              <a:defRPr b="1" sz="1350">
                <a:solidFill>
                  <a:srgbClr val="1F5C46"/>
                </a:solidFill>
              </a:defRPr>
            </a:pPr>
            <a:r>
              <a:t>• 6. ROE (Rent. Socios): </a:t>
            </a:r>
            <a:r>
              <a:rPr b="0" sz="1300">
                <a:solidFill>
                  <a:srgbClr val="182420"/>
                </a:solidFill>
              </a:rPr>
              <a:t>2024: 18.54% | 2025: 11.93% (-6.61%)</a:t>
            </a:r>
          </a:p>
          <a:p>
            <a:pPr>
              <a:spcAft>
                <a:spcPts val="600"/>
              </a:spcAft>
              <a:defRPr b="1" sz="1350">
                <a:solidFill>
                  <a:srgbClr val="1F5C46"/>
                </a:solidFill>
              </a:defRPr>
            </a:pPr>
            <a:r>
              <a:t>• 7. Margen Neto: </a:t>
            </a:r>
            <a:r>
              <a:rPr b="0" sz="1300">
                <a:solidFill>
                  <a:srgbClr val="182420"/>
                </a:solidFill>
              </a:rPr>
              <a:t>2024: 13.20% | 2025: 7.00% (-6.20%)</a:t>
            </a:r>
          </a:p>
          <a:p>
            <a:pPr>
              <a:spcAft>
                <a:spcPts val="600"/>
              </a:spcAft>
              <a:defRPr b="1" sz="1350">
                <a:solidFill>
                  <a:srgbClr val="1F5C46"/>
                </a:solidFill>
              </a:defRPr>
            </a:pPr>
            <a:r>
              <a:t>• 8. Rotación Inv. (50%): </a:t>
            </a:r>
            <a:r>
              <a:rPr b="0" sz="1300">
                <a:solidFill>
                  <a:srgbClr val="182420"/>
                </a:solidFill>
              </a:rPr>
              <a:t>2024: 7.11 veces (50.6 días) | 2025: 7.00 veces (51.4 días)</a:t>
            </a:r>
          </a:p>
          <a:p>
            <a:pPr>
              <a:defRPr sz="1200" b="1">
                <a:solidFill>
                  <a:srgbClr val="9C7A2C"/>
                </a:solidFill>
              </a:defRPr>
            </a:pPr>
            <a:r>
              <a:t>💡 Incluye calculadora financiera interactiva que permite modificar variables en vivo y ver el impacto inmediato en los ratios.</a:t>
            </a:r>
          </a:p>
        </p:txBody>
      </p:sp>
      <p:pic>
        <p:nvPicPr>
          <p:cNvPr id="6" name="Picture 5" descr="08_ratios_examen_andina.png"/>
          <p:cNvPicPr>
            <a:picLocks noChangeAspect="1"/>
          </p:cNvPicPr>
          <p:nvPr/>
        </p:nvPicPr>
        <p:blipFill>
          <a:blip r:embed="rId2"/>
          <a:stretch>
            <a:fillRect/>
          </a:stretch>
        </p:blipFill>
        <p:spPr>
          <a:xfrm>
            <a:off x="6309360" y="1463040"/>
            <a:ext cx="5120640" cy="275198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9C7A2C"/>
                </a:solidFill>
                <a:latin typeface="Segoe UI"/>
              </a:defRPr>
            </a:pPr>
            <a:r>
              <a:t>SECCIÓN 8 · CAPACIDAD Y FLEXIBILIDAD</a:t>
            </a:r>
          </a:p>
        </p:txBody>
      </p:sp>
      <p:sp>
        <p:nvSpPr>
          <p:cNvPr id="4" name="TextBox 3"/>
          <p:cNvSpPr txBox="1"/>
          <p:nvPr/>
        </p:nvSpPr>
        <p:spPr>
          <a:xfrm>
            <a:off x="731520" y="685800"/>
            <a:ext cx="10698480" cy="640080"/>
          </a:xfrm>
          <a:prstGeom prst="rect">
            <a:avLst/>
          </a:prstGeom>
          <a:noFill/>
        </p:spPr>
        <p:txBody>
          <a:bodyPr wrap="square">
            <a:spAutoFit/>
          </a:bodyPr>
          <a:lstStyle/>
          <a:p>
            <a:pPr>
              <a:defRPr sz="2600" b="1">
                <a:solidFill>
                  <a:srgbClr val="1F5C46"/>
                </a:solidFill>
                <a:latin typeface="Georgia"/>
              </a:defRPr>
            </a:pPr>
            <a:r>
              <a:t>Doble Entorno de Trabajo: Caso Resuelto vs Modo Limpio</a:t>
            </a:r>
          </a:p>
        </p:txBody>
      </p:sp>
      <p:sp>
        <p:nvSpPr>
          <p:cNvPr id="5" name="TextBox 4"/>
          <p:cNvSpPr txBox="1"/>
          <p:nvPr/>
        </p:nvSpPr>
        <p:spPr>
          <a:xfrm>
            <a:off x="731520" y="1463040"/>
            <a:ext cx="5303520" cy="4754880"/>
          </a:xfrm>
          <a:prstGeom prst="rect">
            <a:avLst/>
          </a:prstGeom>
          <a:noFill/>
        </p:spPr>
        <p:txBody>
          <a:bodyPr wrap="square">
            <a:spAutoFit/>
          </a:bodyPr>
          <a:lstStyle/>
          <a:p>
            <a:pPr>
              <a:spcAft>
                <a:spcPts val="1000"/>
              </a:spcAft>
              <a:defRPr b="1" sz="1400">
                <a:solidFill>
                  <a:srgbClr val="1F5C46"/>
                </a:solidFill>
              </a:defRPr>
            </a:pPr>
            <a:r>
              <a:t>• ¿Por qué se diseñó?: </a:t>
            </a:r>
            <a:r>
              <a:rPr b="0" sz="1300">
                <a:solidFill>
                  <a:srgbClr val="182420"/>
                </a:solidFill>
              </a:rPr>
              <a:t>Para permitir que la docente evalúe a los estudiantes pidiendo nuevos asientos desde cero, sin riesgo de perder o alterar el caso de estudio ya resuelto.</a:t>
            </a:r>
          </a:p>
          <a:p>
            <a:pPr>
              <a:spcAft>
                <a:spcPts val="1000"/>
              </a:spcAft>
              <a:defRPr b="1" sz="1400">
                <a:solidFill>
                  <a:srgbClr val="1F5C46"/>
                </a:solidFill>
              </a:defRPr>
            </a:pPr>
            <a:r>
              <a:t>• 🏢 Entorno 'Caso El Roble': </a:t>
            </a:r>
            <a:r>
              <a:rPr b="0" sz="1300">
                <a:solidFill>
                  <a:srgbClr val="182420"/>
                </a:solidFill>
              </a:rPr>
              <a:t>Contiene los 24 asientos contables de enero 2026, balances y estados financieros resueltos con perfecta cuadratura.</a:t>
            </a:r>
          </a:p>
          <a:p>
            <a:pPr>
              <a:spcAft>
                <a:spcPts val="1000"/>
              </a:spcAft>
              <a:defRPr b="1" sz="1400">
                <a:solidFill>
                  <a:srgbClr val="1F5C46"/>
                </a:solidFill>
              </a:defRPr>
            </a:pPr>
            <a:r>
              <a:t>• ✨ Entorno 'Modo Limpio': </a:t>
            </a:r>
            <a:r>
              <a:rPr b="0" sz="1300">
                <a:solidFill>
                  <a:srgbClr val="182420"/>
                </a:solidFill>
              </a:rPr>
              <a:t>Lienzo 100% en blanco (cero asientos) pero con el catálogo oficial de 83 cuentas cargado y listo para digitar transacciones en vivo.</a:t>
            </a:r>
          </a:p>
          <a:p>
            <a:pPr>
              <a:spcAft>
                <a:spcPts val="1000"/>
              </a:spcAft>
              <a:defRPr b="1" sz="1400">
                <a:solidFill>
                  <a:srgbClr val="1F5C46"/>
                </a:solidFill>
              </a:defRPr>
            </a:pPr>
            <a:r>
              <a:t>• Independencia de Datos: </a:t>
            </a:r>
            <a:r>
              <a:rPr b="0" sz="1300">
                <a:solidFill>
                  <a:srgbClr val="182420"/>
                </a:solidFill>
              </a:rPr>
              <a:t>Almacenamiento segmentado en LocalStorage. Lo que se registre o elimine en Modo Limpio no afecta a El Roble.</a:t>
            </a:r>
          </a:p>
          <a:p>
            <a:pPr>
              <a:spcAft>
                <a:spcPts val="1000"/>
              </a:spcAft>
              <a:defRPr b="1" sz="1400">
                <a:solidFill>
                  <a:srgbClr val="1F5C46"/>
                </a:solidFill>
              </a:defRPr>
            </a:pPr>
            <a:r>
              <a:t>• Conmutador de 1 Clic: </a:t>
            </a:r>
            <a:r>
              <a:rPr b="0" sz="1300">
                <a:solidFill>
                  <a:srgbClr val="182420"/>
                </a:solidFill>
              </a:rPr>
              <a:t>Selector visual superior y lateral accesible en todo momento para alternar durante la exposición.</a:t>
            </a:r>
          </a:p>
        </p:txBody>
      </p:sp>
      <p:pic>
        <p:nvPicPr>
          <p:cNvPr id="6" name="Picture 5" descr="09_modo_limpio_en_blanco.png"/>
          <p:cNvPicPr>
            <a:picLocks noChangeAspect="1"/>
          </p:cNvPicPr>
          <p:nvPr/>
        </p:nvPicPr>
        <p:blipFill>
          <a:blip r:embed="rId2"/>
          <a:stretch>
            <a:fillRect/>
          </a:stretch>
        </p:blipFill>
        <p:spPr>
          <a:xfrm>
            <a:off x="6309360" y="1463040"/>
            <a:ext cx="5120640" cy="275198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9C7A2C"/>
                </a:solidFill>
                <a:latin typeface="Segoe UI"/>
              </a:defRPr>
            </a:pPr>
            <a:r>
              <a:t>SECCIÓN 9 · EVALUACIÓN PRÁCTICA</a:t>
            </a:r>
          </a:p>
        </p:txBody>
      </p:sp>
      <p:sp>
        <p:nvSpPr>
          <p:cNvPr id="4" name="TextBox 3"/>
          <p:cNvSpPr txBox="1"/>
          <p:nvPr/>
        </p:nvSpPr>
        <p:spPr>
          <a:xfrm>
            <a:off x="731520" y="685800"/>
            <a:ext cx="10698480" cy="640080"/>
          </a:xfrm>
          <a:prstGeom prst="rect">
            <a:avLst/>
          </a:prstGeom>
          <a:noFill/>
        </p:spPr>
        <p:txBody>
          <a:bodyPr wrap="square">
            <a:spAutoFit/>
          </a:bodyPr>
          <a:lstStyle/>
          <a:p>
            <a:pPr>
              <a:defRPr sz="2600" b="1">
                <a:solidFill>
                  <a:srgbClr val="1F5C46"/>
                </a:solidFill>
                <a:latin typeface="Georgia"/>
              </a:defRPr>
            </a:pPr>
            <a:r>
              <a:t>Demostración Práctica Frente a la Clase: Compra con IVA 15%</a:t>
            </a:r>
          </a:p>
        </p:txBody>
      </p:sp>
      <p:sp>
        <p:nvSpPr>
          <p:cNvPr id="5" name="Rounded Rectangle 4"/>
          <p:cNvSpPr/>
          <p:nvPr/>
        </p:nvSpPr>
        <p:spPr>
          <a:xfrm>
            <a:off x="731520" y="1463040"/>
            <a:ext cx="10728655" cy="475488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800">
                <a:solidFill>
                  <a:srgbClr val="9C7A2C"/>
                </a:solidFill>
              </a:defRPr>
            </a:pPr>
            <a:r>
              <a:t>ENUNCIADO DEL EJEMPLO PRÁCTICO EN VIVO:</a:t>
            </a:r>
          </a:p>
          <a:p>
            <a:pPr>
              <a:spcAft>
                <a:spcPts val="1600"/>
              </a:spcAft>
              <a:defRPr i="1" sz="1600">
                <a:solidFill>
                  <a:srgbClr val="182420"/>
                </a:solidFill>
              </a:defRPr>
            </a:pPr>
            <a:r>
              <a:t>«La empresa adquiere mercaderías para la comercialización por $1,000.00 más 15% de IVA según factura, cancelando el valor total mediante transferencia bancaria.»</a:t>
            </a:r>
          </a:p>
          <a:p>
            <a:pPr>
              <a:defRPr b="1" sz="1600">
                <a:solidFill>
                  <a:srgbClr val="1F5C46"/>
                </a:solidFill>
              </a:defRPr>
            </a:pPr>
            <a:r>
              <a:t>ASIENTO CONTABLE EN EL SISTEMA (Paso 02 → Modo Limpio):</a:t>
            </a:r>
          </a:p>
          <a:p>
            <a:pPr>
              <a:spcAft>
                <a:spcPts val="800"/>
              </a:spcAft>
            </a:pPr>
            <a:r>
              <a:rPr b="1" sz="1500">
                <a:solidFill>
                  <a:srgbClr val="182420"/>
                </a:solidFill>
              </a:rPr>
              <a:t>• DEBE: Cuenta 1105 — Inventarios  →  </a:t>
            </a:r>
            <a:r>
              <a:rPr b="1" sz="1500">
                <a:solidFill>
                  <a:srgbClr val="1F5C46"/>
                </a:solidFill>
              </a:rPr>
              <a:t>$1,000.00  </a:t>
            </a:r>
            <a:r>
              <a:rPr sz="1300">
                <a:solidFill>
                  <a:srgbClr val="5F6C64"/>
                </a:solidFill>
              </a:rPr>
              <a:t>(Aumento de activo por mercadería disponible)</a:t>
            </a:r>
          </a:p>
          <a:p>
            <a:pPr>
              <a:spcAft>
                <a:spcPts val="800"/>
              </a:spcAft>
            </a:pPr>
            <a:r>
              <a:rPr b="1" sz="1500">
                <a:solidFill>
                  <a:srgbClr val="182420"/>
                </a:solidFill>
              </a:rPr>
              <a:t>• DEBE: Cuenta 1110 — IVA Crédito Tributario  →  </a:t>
            </a:r>
            <a:r>
              <a:rPr b="1" sz="1500">
                <a:solidFill>
                  <a:srgbClr val="1F5C46"/>
                </a:solidFill>
              </a:rPr>
              <a:t>$150.00  </a:t>
            </a:r>
            <a:r>
              <a:rPr sz="1300">
                <a:solidFill>
                  <a:srgbClr val="5F6C64"/>
                </a:solidFill>
              </a:rPr>
              <a:t>(15% del IVA a favor de la empresa para compensar al SRI)</a:t>
            </a:r>
          </a:p>
          <a:p>
            <a:pPr>
              <a:spcAft>
                <a:spcPts val="800"/>
              </a:spcAft>
            </a:pPr>
            <a:r>
              <a:rPr b="1" sz="1500">
                <a:solidFill>
                  <a:srgbClr val="182420"/>
                </a:solidFill>
              </a:rPr>
              <a:t>• HABER: Cuenta 1103 — Bancos  →  </a:t>
            </a:r>
            <a:r>
              <a:rPr b="1" sz="1500">
                <a:solidFill>
                  <a:srgbClr val="1F5C46"/>
                </a:solidFill>
              </a:rPr>
              <a:t>$1,150.00  </a:t>
            </a:r>
            <a:r>
              <a:rPr sz="1300">
                <a:solidFill>
                  <a:srgbClr val="5F6C64"/>
                </a:solidFill>
              </a:rPr>
              <a:t>(Disminución de activo por salida de fondos bancarios)</a:t>
            </a:r>
          </a:p>
          <a:p>
            <a:pPr>
              <a:defRPr b="1" sz="1600">
                <a:solidFill>
                  <a:srgbClr val="1F5C46"/>
                </a:solidFill>
              </a:defRPr>
            </a:pPr>
            <a:r>
              <a:t>✓ Partida Doble Comprobada: Total Debe $1,150.00 = Total Haber $1,150.00 (Diferencia $0.00)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9C7A2C"/>
                </a:solidFill>
                <a:latin typeface="Segoe UI"/>
              </a:defRPr>
            </a:pPr>
            <a:r>
              <a:t>SECCIÓN 10 · CONCLUSIÓN ACADÉMICA</a:t>
            </a:r>
          </a:p>
        </p:txBody>
      </p:sp>
      <p:sp>
        <p:nvSpPr>
          <p:cNvPr id="4" name="TextBox 3"/>
          <p:cNvSpPr txBox="1"/>
          <p:nvPr/>
        </p:nvSpPr>
        <p:spPr>
          <a:xfrm>
            <a:off x="731520" y="685800"/>
            <a:ext cx="10698480" cy="640080"/>
          </a:xfrm>
          <a:prstGeom prst="rect">
            <a:avLst/>
          </a:prstGeom>
          <a:noFill/>
        </p:spPr>
        <p:txBody>
          <a:bodyPr wrap="square">
            <a:spAutoFit/>
          </a:bodyPr>
          <a:lstStyle/>
          <a:p>
            <a:pPr>
              <a:defRPr sz="2600" b="1">
                <a:solidFill>
                  <a:srgbClr val="1F5C46"/>
                </a:solidFill>
                <a:latin typeface="Georgia"/>
              </a:defRPr>
            </a:pPr>
            <a:r>
              <a:t>Valoración del Sistema y Contribución al Control Contable</a:t>
            </a:r>
          </a:p>
        </p:txBody>
      </p:sp>
      <p:sp>
        <p:nvSpPr>
          <p:cNvPr id="5" name="Rounded Rectangle 4"/>
          <p:cNvSpPr/>
          <p:nvPr/>
        </p:nvSpPr>
        <p:spPr>
          <a:xfrm>
            <a:off x="731520" y="1554480"/>
            <a:ext cx="5120640" cy="201168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800">
                <a:solidFill>
                  <a:srgbClr val="1F5C46"/>
                </a:solidFill>
              </a:defRPr>
            </a:pPr>
            <a:r>
              <a:t>1. Eficiencia Operativa</a:t>
            </a:r>
          </a:p>
          <a:p>
            <a:pPr>
              <a:defRPr sz="1400">
                <a:solidFill>
                  <a:srgbClr val="182420"/>
                </a:solidFill>
              </a:defRPr>
            </a:pPr>
            <a:r>
              <a:t>Reduce a cero el tiempo de mayorización manual, cuadre de sumas y estructuración de balances, agilizando el cierre mensual.</a:t>
            </a:r>
          </a:p>
        </p:txBody>
      </p:sp>
      <p:sp>
        <p:nvSpPr>
          <p:cNvPr id="6" name="Rounded Rectangle 5"/>
          <p:cNvSpPr/>
          <p:nvPr/>
        </p:nvSpPr>
        <p:spPr>
          <a:xfrm>
            <a:off x="6217920" y="1554480"/>
            <a:ext cx="5120640" cy="201168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800">
                <a:solidFill>
                  <a:srgbClr val="1F5C46"/>
                </a:solidFill>
              </a:defRPr>
            </a:pPr>
            <a:r>
              <a:t>2. Integridad del Dato</a:t>
            </a:r>
          </a:p>
          <a:p>
            <a:pPr>
              <a:defRPr sz="1400">
                <a:solidFill>
                  <a:srgbClr val="182420"/>
                </a:solidFill>
              </a:defRPr>
            </a:pPr>
            <a:r>
              <a:t>El motor lógico impide asientos descuadrados o el borrado accidental de cuentas con movimientos, garantizando trazabilidad y auditoría.</a:t>
            </a:r>
          </a:p>
        </p:txBody>
      </p:sp>
      <p:sp>
        <p:nvSpPr>
          <p:cNvPr id="7" name="Rounded Rectangle 6"/>
          <p:cNvSpPr/>
          <p:nvPr/>
        </p:nvSpPr>
        <p:spPr>
          <a:xfrm>
            <a:off x="731520" y="3840480"/>
            <a:ext cx="5120640" cy="201168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800">
                <a:solidFill>
                  <a:srgbClr val="1F5C46"/>
                </a:solidFill>
              </a:defRPr>
            </a:pPr>
            <a:r>
              <a:t>3. Nivel Gerencial</a:t>
            </a:r>
          </a:p>
          <a:p>
            <a:pPr>
              <a:defRPr sz="1400">
                <a:solidFill>
                  <a:srgbClr val="182420"/>
                </a:solidFill>
              </a:defRPr>
            </a:pPr>
            <a:r>
              <a:t>No se queda en el simple registro contable: procesa estados financieros clasificados y calcula ratios de liquidez, solvencia y rentabilidad.</a:t>
            </a:r>
          </a:p>
        </p:txBody>
      </p:sp>
      <p:sp>
        <p:nvSpPr>
          <p:cNvPr id="8" name="Rounded Rectangle 7"/>
          <p:cNvSpPr/>
          <p:nvPr/>
        </p:nvSpPr>
        <p:spPr>
          <a:xfrm>
            <a:off x="6217920" y="3840480"/>
            <a:ext cx="5120640" cy="201168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800">
                <a:solidFill>
                  <a:srgbClr val="1F5C46"/>
                </a:solidFill>
              </a:defRPr>
            </a:pPr>
            <a:r>
              <a:t>4. Arquitectura Moderna</a:t>
            </a:r>
          </a:p>
          <a:p>
            <a:pPr>
              <a:defRPr sz="1400">
                <a:solidFill>
                  <a:srgbClr val="182420"/>
                </a:solidFill>
              </a:defRPr>
            </a:pPr>
            <a:r>
              <a:t>100% web, desplegado en la nube pública sin requerir instalación, servidores locales ni mantenimiento de bases de datos pesadas.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